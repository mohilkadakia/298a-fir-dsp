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7" dt="2026-10-01T21:34:41.622"/>
    <p1510:client id="{5FDF25C7-795B-4BF4-A9E1-AA0F06699488}" v="448" dt="2026-10-01T18:25:00.623"/>
    <p1510:client id="{ADA0CA04-3BDA-4334-AA7D-E1AB24736FD9}" v="36" dt="2026-10-01T15:03:40.5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2090" autoAdjust="0"/>
  </p:normalViewPr>
  <p:slideViewPr>
    <p:cSldViewPr snapToGrid="0">
      <p:cViewPr varScale="1">
        <p:scale>
          <a:sx n="69" d="100"/>
          <a:sy n="69" d="100"/>
        </p:scale>
        <p:origin x="1205"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notesMaster" Target="notesMasters/notesMaster1.xml"/><Relationship Id="rId10"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mza Soofi" userId="aa5f48b4e84ba929" providerId="LiveId" clId="{F7CF1F71-C221-4B1C-BC2F-D2054B2B4866}"/>
    <pc:docChg chg="undo custSel modSld">
      <pc:chgData name="Hamza Soofi" userId="aa5f48b4e84ba929" providerId="LiveId" clId="{F7CF1F71-C221-4B1C-BC2F-D2054B2B4866}" dt="2026-10-01T18:25:00.623" v="444" actId="20577"/>
      <pc:docMkLst>
        <pc:docMk/>
      </pc:docMkLst>
      <pc:sldChg chg="addSp delSp modSp mod modNotesTx">
        <pc:chgData name="Hamza Soofi" userId="aa5f48b4e84ba929" providerId="LiveId" clId="{F7CF1F71-C221-4B1C-BC2F-D2054B2B4866}" dt="2026-10-01T15:20:36.460" v="381" actId="20577"/>
        <pc:sldMkLst>
          <pc:docMk/>
          <pc:sldMk cId="1784961714" sldId="256"/>
        </pc:sldMkLst>
        <pc:spChg chg="add del">
          <ac:chgData name="Hamza Soofi" userId="aa5f48b4e84ba929" providerId="LiveId" clId="{F7CF1F71-C221-4B1C-BC2F-D2054B2B4866}" dt="2026-10-01T14:56:32.030" v="3" actId="478"/>
          <ac:spMkLst>
            <pc:docMk/>
            <pc:sldMk cId="1784961714" sldId="256"/>
            <ac:spMk id="2" creationId="{54DA08FD-D120-414D-9A2E-280CC9F0B1B6}"/>
          </ac:spMkLst>
        </pc:spChg>
        <pc:spChg chg="add del mod">
          <ac:chgData name="Hamza Soofi" userId="aa5f48b4e84ba929" providerId="LiveId" clId="{F7CF1F71-C221-4B1C-BC2F-D2054B2B4866}" dt="2026-10-01T14:56:45.281" v="9" actId="21"/>
          <ac:spMkLst>
            <pc:docMk/>
            <pc:sldMk cId="1784961714" sldId="256"/>
            <ac:spMk id="7" creationId="{4545E7EC-2319-458D-9461-29B59405799E}"/>
          </ac:spMkLst>
        </pc:spChg>
        <pc:spChg chg="del mod">
          <ac:chgData name="Hamza Soofi" userId="aa5f48b4e84ba929" providerId="LiveId" clId="{F7CF1F71-C221-4B1C-BC2F-D2054B2B4866}" dt="2026-10-01T14:56:35.567" v="4" actId="478"/>
          <ac:spMkLst>
            <pc:docMk/>
            <pc:sldMk cId="1784961714" sldId="256"/>
            <ac:spMk id="8" creationId="{7BB2D088-AEDA-4454-ACB0-67C54DC5ECFF}"/>
          </ac:spMkLst>
        </pc:spChg>
        <pc:spChg chg="mod">
          <ac:chgData name="Hamza Soofi" userId="aa5f48b4e84ba929" providerId="LiveId" clId="{F7CF1F71-C221-4B1C-BC2F-D2054B2B4866}" dt="2026-10-01T14:56:48.386" v="10" actId="1076"/>
          <ac:spMkLst>
            <pc:docMk/>
            <pc:sldMk cId="1784961714" sldId="256"/>
            <ac:spMk id="9" creationId="{EA032404-FFDF-438F-A8D5-DCE380CCBD98}"/>
          </ac:spMkLst>
        </pc:spChg>
      </pc:sldChg>
      <pc:sldChg chg="addSp modSp mod modNotesTx">
        <pc:chgData name="Hamza Soofi" userId="aa5f48b4e84ba929" providerId="LiveId" clId="{F7CF1F71-C221-4B1C-BC2F-D2054B2B4866}" dt="2026-10-01T15:20:58.691" v="423" actId="20577"/>
        <pc:sldMkLst>
          <pc:docMk/>
          <pc:sldMk cId="1662058197" sldId="257"/>
        </pc:sldMkLst>
        <pc:spChg chg="mod">
          <ac:chgData name="Hamza Soofi" userId="aa5f48b4e84ba929" providerId="LiveId" clId="{F7CF1F71-C221-4B1C-BC2F-D2054B2B4866}" dt="2026-10-01T14:58:15.578" v="19" actId="27636"/>
          <ac:spMkLst>
            <pc:docMk/>
            <pc:sldMk cId="1662058197" sldId="257"/>
            <ac:spMk id="2" creationId="{4E0C0EB2-95B4-40F7-8FCF-A2EF1B1CB95C}"/>
          </ac:spMkLst>
        </pc:spChg>
        <pc:spChg chg="mod">
          <ac:chgData name="Hamza Soofi" userId="aa5f48b4e84ba929" providerId="LiveId" clId="{F7CF1F71-C221-4B1C-BC2F-D2054B2B4866}" dt="2026-10-01T14:58:15.578" v="20" actId="27636"/>
          <ac:spMkLst>
            <pc:docMk/>
            <pc:sldMk cId="1662058197" sldId="257"/>
            <ac:spMk id="3" creationId="{2BD432BB-8750-4D2C-AA8E-1FE1A71547D8}"/>
          </ac:spMkLst>
        </pc:spChg>
        <pc:spChg chg="add mod">
          <ac:chgData name="Hamza Soofi" userId="aa5f48b4e84ba929" providerId="LiveId" clId="{F7CF1F71-C221-4B1C-BC2F-D2054B2B4866}" dt="2026-10-01T15:00:44.341" v="110" actId="1076"/>
          <ac:spMkLst>
            <pc:docMk/>
            <pc:sldMk cId="1662058197" sldId="257"/>
            <ac:spMk id="11" creationId="{8C4D59DF-56EA-B536-33E5-7734FDCD4B7F}"/>
          </ac:spMkLst>
        </pc:spChg>
      </pc:sldChg>
      <pc:sldChg chg="addSp delSp modSp mod modNotesTx">
        <pc:chgData name="Hamza Soofi" userId="aa5f48b4e84ba929" providerId="LiveId" clId="{F7CF1F71-C221-4B1C-BC2F-D2054B2B4866}" dt="2026-10-01T18:25:00.623" v="444" actId="20577"/>
        <pc:sldMkLst>
          <pc:docMk/>
          <pc:sldMk cId="1783209669" sldId="258"/>
        </pc:sldMkLst>
        <pc:spChg chg="del">
          <ac:chgData name="Hamza Soofi" userId="aa5f48b4e84ba929" providerId="LiveId" clId="{F7CF1F71-C221-4B1C-BC2F-D2054B2B4866}" dt="2026-10-01T15:09:10.563" v="219" actId="478"/>
          <ac:spMkLst>
            <pc:docMk/>
            <pc:sldMk cId="1783209669" sldId="258"/>
            <ac:spMk id="3" creationId="{DFE16812-F363-4F87-A69D-AF60ECB3618A}"/>
          </ac:spMkLst>
        </pc:spChg>
        <pc:spChg chg="mod">
          <ac:chgData name="Hamza Soofi" userId="aa5f48b4e84ba929" providerId="LiveId" clId="{F7CF1F71-C221-4B1C-BC2F-D2054B2B4866}" dt="2026-10-01T15:09:19.884" v="220" actId="1076"/>
          <ac:spMkLst>
            <pc:docMk/>
            <pc:sldMk cId="1783209669" sldId="258"/>
            <ac:spMk id="4" creationId="{73A1A19C-AEA1-4829-BF8C-0EC57F9C8B6F}"/>
          </ac:spMkLst>
        </pc:spChg>
        <pc:spChg chg="mod">
          <ac:chgData name="Hamza Soofi" userId="aa5f48b4e84ba929" providerId="LiveId" clId="{F7CF1F71-C221-4B1C-BC2F-D2054B2B4866}" dt="2026-10-01T15:09:19.884" v="220" actId="1076"/>
          <ac:spMkLst>
            <pc:docMk/>
            <pc:sldMk cId="1783209669" sldId="258"/>
            <ac:spMk id="6" creationId="{AEAA9864-8DB8-4A76-AA50-7D0DFFBA1245}"/>
          </ac:spMkLst>
        </pc:spChg>
        <pc:spChg chg="mod">
          <ac:chgData name="Hamza Soofi" userId="aa5f48b4e84ba929" providerId="LiveId" clId="{F7CF1F71-C221-4B1C-BC2F-D2054B2B4866}" dt="2026-10-01T14:58:15.616" v="25" actId="27636"/>
          <ac:spMkLst>
            <pc:docMk/>
            <pc:sldMk cId="1783209669" sldId="258"/>
            <ac:spMk id="13" creationId="{D7C70F36-8D85-4A8D-BEB9-3CB7258766EB}"/>
          </ac:spMkLst>
        </pc:spChg>
        <pc:spChg chg="mod">
          <ac:chgData name="Hamza Soofi" userId="aa5f48b4e84ba929" providerId="LiveId" clId="{F7CF1F71-C221-4B1C-BC2F-D2054B2B4866}" dt="2026-10-01T15:09:19.884" v="220" actId="1076"/>
          <ac:spMkLst>
            <pc:docMk/>
            <pc:sldMk cId="1783209669" sldId="258"/>
            <ac:spMk id="14" creationId="{3D816EFE-906D-4C2A-9A48-196FF139DA2A}"/>
          </ac:spMkLst>
        </pc:spChg>
        <pc:spChg chg="mod">
          <ac:chgData name="Hamza Soofi" userId="aa5f48b4e84ba929" providerId="LiveId" clId="{F7CF1F71-C221-4B1C-BC2F-D2054B2B4866}" dt="2026-10-01T15:10:30.968" v="227" actId="20577"/>
          <ac:spMkLst>
            <pc:docMk/>
            <pc:sldMk cId="1783209669" sldId="258"/>
            <ac:spMk id="15" creationId="{7B66D752-DBA0-4ED2-82BA-1F494600BB89}"/>
          </ac:spMkLst>
        </pc:spChg>
        <pc:spChg chg="mod">
          <ac:chgData name="Hamza Soofi" userId="aa5f48b4e84ba929" providerId="LiveId" clId="{F7CF1F71-C221-4B1C-BC2F-D2054B2B4866}" dt="2026-10-01T14:58:15.605" v="22" actId="27636"/>
          <ac:spMkLst>
            <pc:docMk/>
            <pc:sldMk cId="1783209669" sldId="258"/>
            <ac:spMk id="17" creationId="{86EE7C59-A26B-4D57-BF1B-965D371E0EDE}"/>
          </ac:spMkLst>
        </pc:spChg>
        <pc:spChg chg="mod">
          <ac:chgData name="Hamza Soofi" userId="aa5f48b4e84ba929" providerId="LiveId" clId="{F7CF1F71-C221-4B1C-BC2F-D2054B2B4866}" dt="2026-10-01T15:09:19.884" v="220" actId="1076"/>
          <ac:spMkLst>
            <pc:docMk/>
            <pc:sldMk cId="1783209669" sldId="258"/>
            <ac:spMk id="18" creationId="{1BE73F91-00D1-438A-BB9C-36EDE09FDDB1}"/>
          </ac:spMkLst>
        </pc:spChg>
        <pc:spChg chg="mod">
          <ac:chgData name="Hamza Soofi" userId="aa5f48b4e84ba929" providerId="LiveId" clId="{F7CF1F71-C221-4B1C-BC2F-D2054B2B4866}" dt="2026-10-01T15:09:19.884" v="220" actId="1076"/>
          <ac:spMkLst>
            <pc:docMk/>
            <pc:sldMk cId="1783209669" sldId="258"/>
            <ac:spMk id="19" creationId="{06FF6ED7-9088-4F1C-94BA-E745B9AABB0F}"/>
          </ac:spMkLst>
        </pc:spChg>
        <pc:spChg chg="mod">
          <ac:chgData name="Hamza Soofi" userId="aa5f48b4e84ba929" providerId="LiveId" clId="{F7CF1F71-C221-4B1C-BC2F-D2054B2B4866}" dt="2026-10-01T14:58:15.601" v="21" actId="27636"/>
          <ac:spMkLst>
            <pc:docMk/>
            <pc:sldMk cId="1783209669" sldId="258"/>
            <ac:spMk id="20" creationId="{8004F7C5-890B-4FE9-B2DE-B54FA7F1F5C0}"/>
          </ac:spMkLst>
        </pc:spChg>
        <pc:spChg chg="mod">
          <ac:chgData name="Hamza Soofi" userId="aa5f48b4e84ba929" providerId="LiveId" clId="{F7CF1F71-C221-4B1C-BC2F-D2054B2B4866}" dt="2026-10-01T14:58:15.608" v="23" actId="27636"/>
          <ac:spMkLst>
            <pc:docMk/>
            <pc:sldMk cId="1783209669" sldId="258"/>
            <ac:spMk id="21" creationId="{C75CEF65-0E35-428C-845E-F556E08924D5}"/>
          </ac:spMkLst>
        </pc:spChg>
        <pc:spChg chg="mod">
          <ac:chgData name="Hamza Soofi" userId="aa5f48b4e84ba929" providerId="LiveId" clId="{F7CF1F71-C221-4B1C-BC2F-D2054B2B4866}" dt="2026-10-01T14:58:15.636" v="31" actId="27636"/>
          <ac:spMkLst>
            <pc:docMk/>
            <pc:sldMk cId="1783209669" sldId="258"/>
            <ac:spMk id="22" creationId="{16B88DEC-192D-41D0-8569-AAAA6DF0C617}"/>
          </ac:spMkLst>
        </pc:spChg>
        <pc:spChg chg="mod">
          <ac:chgData name="Hamza Soofi" userId="aa5f48b4e84ba929" providerId="LiveId" clId="{F7CF1F71-C221-4B1C-BC2F-D2054B2B4866}" dt="2026-10-01T15:09:19.884" v="220" actId="1076"/>
          <ac:spMkLst>
            <pc:docMk/>
            <pc:sldMk cId="1783209669" sldId="258"/>
            <ac:spMk id="23" creationId="{BA210531-7810-46A0-880F-60A49E6787E3}"/>
          </ac:spMkLst>
        </pc:spChg>
        <pc:spChg chg="mod">
          <ac:chgData name="Hamza Soofi" userId="aa5f48b4e84ba929" providerId="LiveId" clId="{F7CF1F71-C221-4B1C-BC2F-D2054B2B4866}" dt="2026-10-01T14:58:15.624" v="27" actId="27636"/>
          <ac:spMkLst>
            <pc:docMk/>
            <pc:sldMk cId="1783209669" sldId="258"/>
            <ac:spMk id="24" creationId="{7CA3673B-CC02-4E9E-B47B-FF591829938F}"/>
          </ac:spMkLst>
        </pc:spChg>
        <pc:spChg chg="mod">
          <ac:chgData name="Hamza Soofi" userId="aa5f48b4e84ba929" providerId="LiveId" clId="{F7CF1F71-C221-4B1C-BC2F-D2054B2B4866}" dt="2026-10-01T15:09:19.884" v="220" actId="1076"/>
          <ac:spMkLst>
            <pc:docMk/>
            <pc:sldMk cId="1783209669" sldId="258"/>
            <ac:spMk id="25" creationId="{08B01922-C70E-4C78-820E-7DE054FE2EA9}"/>
          </ac:spMkLst>
        </pc:spChg>
        <pc:spChg chg="mod">
          <ac:chgData name="Hamza Soofi" userId="aa5f48b4e84ba929" providerId="LiveId" clId="{F7CF1F71-C221-4B1C-BC2F-D2054B2B4866}" dt="2026-10-01T15:09:19.884" v="220" actId="1076"/>
          <ac:spMkLst>
            <pc:docMk/>
            <pc:sldMk cId="1783209669" sldId="258"/>
            <ac:spMk id="26" creationId="{A6C14523-9FBA-48AA-8281-F33FF37F255D}"/>
          </ac:spMkLst>
        </pc:spChg>
        <pc:spChg chg="mod">
          <ac:chgData name="Hamza Soofi" userId="aa5f48b4e84ba929" providerId="LiveId" clId="{F7CF1F71-C221-4B1C-BC2F-D2054B2B4866}" dt="2026-10-01T15:12:22.180" v="275" actId="20577"/>
          <ac:spMkLst>
            <pc:docMk/>
            <pc:sldMk cId="1783209669" sldId="258"/>
            <ac:spMk id="27" creationId="{B3CEFEB6-60B0-4ED8-A3E6-24BDDB7A2313}"/>
          </ac:spMkLst>
        </pc:spChg>
        <pc:spChg chg="mod">
          <ac:chgData name="Hamza Soofi" userId="aa5f48b4e84ba929" providerId="LiveId" clId="{F7CF1F71-C221-4B1C-BC2F-D2054B2B4866}" dt="2026-10-01T15:12:42.232" v="279" actId="1076"/>
          <ac:spMkLst>
            <pc:docMk/>
            <pc:sldMk cId="1783209669" sldId="258"/>
            <ac:spMk id="28" creationId="{F509BE74-D9D3-477A-9770-89737F2A4D09}"/>
          </ac:spMkLst>
        </pc:spChg>
        <pc:spChg chg="mod">
          <ac:chgData name="Hamza Soofi" userId="aa5f48b4e84ba929" providerId="LiveId" clId="{F7CF1F71-C221-4B1C-BC2F-D2054B2B4866}" dt="2026-10-01T15:12:38.119" v="278" actId="1076"/>
          <ac:spMkLst>
            <pc:docMk/>
            <pc:sldMk cId="1783209669" sldId="258"/>
            <ac:spMk id="29" creationId="{79E745C0-B359-4580-8F09-ECF76143A7AD}"/>
          </ac:spMkLst>
        </pc:spChg>
        <pc:spChg chg="add del mod">
          <ac:chgData name="Hamza Soofi" userId="aa5f48b4e84ba929" providerId="LiveId" clId="{F7CF1F71-C221-4B1C-BC2F-D2054B2B4866}" dt="2026-10-01T15:11:44.761" v="230"/>
          <ac:spMkLst>
            <pc:docMk/>
            <pc:sldMk cId="1783209669" sldId="258"/>
            <ac:spMk id="31" creationId="{BAAA6744-491C-D389-5096-107F99C32D4B}"/>
          </ac:spMkLst>
        </pc:spChg>
      </pc:sldChg>
    </pc:docChg>
  </pc:docChgLst>
  <pc:docChgLst>
    <pc:chgData name="Guest User" providerId="Windows Live" clId="Web-{00000000-0000-0000-0000-000000000000}"/>
    <pc:docChg chg="addSld delSld modSld">
      <pc:chgData name="Guest User" userId="" providerId="Windows Live" clId="Web-{00000000-0000-0000-0000-000000000000}" dt="2026-10-01T21:34:41.622" v="117"/>
      <pc:docMkLst>
        <pc:docMk/>
      </pc:docMkLst>
      <pc:sldChg chg="modSp">
        <pc:chgData name="Guest User" userId="" providerId="Windows Live" clId="Web-{00000000-0000-0000-0000-000000000000}" dt="2026-10-01T21:34:03.794" v="101"/>
        <pc:sldMkLst>
          <pc:docMk/>
          <pc:sldMk cId="1784961714" sldId="256"/>
        </pc:sldMkLst>
        <pc:picChg chg="mod">
          <ac:chgData name="Guest User" userId="" providerId="Windows Live" clId="Web-{00000000-0000-0000-0000-000000000000}" dt="2026-10-01T21:34:03.794" v="101"/>
          <ac:picMkLst>
            <pc:docMk/>
            <pc:sldMk cId="1784961714" sldId="256"/>
            <ac:picMk id="10" creationId="{00000000-0000-0000-0000-000000000000}"/>
          </ac:picMkLst>
        </pc:picChg>
      </pc:sldChg>
      <pc:sldChg chg="addSp delSp modSp add del">
        <pc:chgData name="Guest User" userId="" providerId="Windows Live" clId="Web-{00000000-0000-0000-0000-000000000000}" dt="2026-10-01T21:34:22.403" v="102" actId="14100"/>
        <pc:sldMkLst>
          <pc:docMk/>
          <pc:sldMk cId="1662058197" sldId="257"/>
        </pc:sldMkLst>
        <pc:spChg chg="mod">
          <ac:chgData name="Guest User" userId="" providerId="Windows Live" clId="Web-{00000000-0000-0000-0000-000000000000}" dt="2026-10-01T15:03:40.448" v="21" actId="1076"/>
          <ac:spMkLst>
            <pc:docMk/>
            <pc:sldMk cId="1662058197" sldId="257"/>
            <ac:spMk id="3" creationId="{2BD432BB-8750-4D2C-AA8E-1FE1A71547D8}"/>
          </ac:spMkLst>
        </pc:spChg>
        <pc:spChg chg="mod">
          <ac:chgData name="Guest User" userId="" providerId="Windows Live" clId="Web-{00000000-0000-0000-0000-000000000000}" dt="2026-10-01T15:03:40.464" v="22" actId="1076"/>
          <ac:spMkLst>
            <pc:docMk/>
            <pc:sldMk cId="1662058197" sldId="257"/>
            <ac:spMk id="4" creationId="{6C660173-B785-4858-A2CA-0E0C58B5DD7B}"/>
          </ac:spMkLst>
        </pc:spChg>
        <pc:spChg chg="mod">
          <ac:chgData name="Guest User" userId="" providerId="Windows Live" clId="Web-{00000000-0000-0000-0000-000000000000}" dt="2026-10-01T15:03:40.480" v="23" actId="1076"/>
          <ac:spMkLst>
            <pc:docMk/>
            <pc:sldMk cId="1662058197" sldId="257"/>
            <ac:spMk id="5" creationId="{D640D530-9DA0-44EA-9DEB-4E3434D9ABC3}"/>
          </ac:spMkLst>
        </pc:spChg>
        <pc:spChg chg="mod">
          <ac:chgData name="Guest User" userId="" providerId="Windows Live" clId="Web-{00000000-0000-0000-0000-000000000000}" dt="2026-10-01T15:03:40.480" v="24" actId="1076"/>
          <ac:spMkLst>
            <pc:docMk/>
            <pc:sldMk cId="1662058197" sldId="257"/>
            <ac:spMk id="6" creationId="{45322374-5C83-4E50-932C-0F1C4B8B118D}"/>
          </ac:spMkLst>
        </pc:spChg>
        <pc:spChg chg="mod">
          <ac:chgData name="Guest User" userId="" providerId="Windows Live" clId="Web-{00000000-0000-0000-0000-000000000000}" dt="2026-10-01T15:03:40.495" v="25" actId="1076"/>
          <ac:spMkLst>
            <pc:docMk/>
            <pc:sldMk cId="1662058197" sldId="257"/>
            <ac:spMk id="7" creationId="{4AA5D6C5-3BBD-4A7B-9F83-98F22158C813}"/>
          </ac:spMkLst>
        </pc:spChg>
        <pc:spChg chg="mod">
          <ac:chgData name="Guest User" userId="" providerId="Windows Live" clId="Web-{00000000-0000-0000-0000-000000000000}" dt="2026-10-01T15:03:40.511" v="26" actId="1076"/>
          <ac:spMkLst>
            <pc:docMk/>
            <pc:sldMk cId="1662058197" sldId="257"/>
            <ac:spMk id="8" creationId="{7EE74190-31ED-4242-956E-BDFC9971698F}"/>
          </ac:spMkLst>
        </pc:spChg>
        <pc:spChg chg="mod">
          <ac:chgData name="Guest User" userId="" providerId="Windows Live" clId="Web-{00000000-0000-0000-0000-000000000000}" dt="2026-10-01T15:03:40.527" v="27" actId="1076"/>
          <ac:spMkLst>
            <pc:docMk/>
            <pc:sldMk cId="1662058197" sldId="257"/>
            <ac:spMk id="9" creationId="{9F888F9B-417F-4A5B-99D5-5203483134F5}"/>
          </ac:spMkLst>
        </pc:spChg>
        <pc:spChg chg="mod">
          <ac:chgData name="Guest User" userId="" providerId="Windows Live" clId="Web-{00000000-0000-0000-0000-000000000000}" dt="2026-10-01T21:34:22.403" v="102" actId="14100"/>
          <ac:spMkLst>
            <pc:docMk/>
            <pc:sldMk cId="1662058197" sldId="257"/>
            <ac:spMk id="11" creationId="{8C4D59DF-56EA-B536-33E5-7734FDCD4B7F}"/>
          </ac:spMkLst>
        </pc:spChg>
        <pc:spChg chg="mod">
          <ac:chgData name="Guest User" userId="" providerId="Windows Live" clId="Web-{00000000-0000-0000-0000-000000000000}" dt="2026-10-01T15:03:40.542" v="28" actId="1076"/>
          <ac:spMkLst>
            <pc:docMk/>
            <pc:sldMk cId="1662058197" sldId="257"/>
            <ac:spMk id="15" creationId="{8673AB49-6016-4083-8C04-0DC4D8046E80}"/>
          </ac:spMkLst>
        </pc:spChg>
        <pc:spChg chg="del mod">
          <ac:chgData name="Guest User" userId="" providerId="Windows Live" clId="Web-{00000000-0000-0000-0000-000000000000}" dt="2026-10-01T15:03:22.277" v="13"/>
          <ac:spMkLst>
            <pc:docMk/>
            <pc:sldMk cId="1662058197" sldId="257"/>
            <ac:spMk id="17" creationId="{7080DA4B-9F43-471B-9FA9-ACC52ED85038}"/>
          </ac:spMkLst>
        </pc:spChg>
        <pc:spChg chg="add del">
          <ac:chgData name="Guest User" userId="" providerId="Windows Live" clId="Web-{00000000-0000-0000-0000-000000000000}" dt="2026-10-01T15:03:26.589" v="14"/>
          <ac:spMkLst>
            <pc:docMk/>
            <pc:sldMk cId="1662058197" sldId="257"/>
            <ac:spMk id="18" creationId="{9FA4464C-D77E-4992-8766-54D5616AD40F}"/>
          </ac:spMkLst>
        </pc:spChg>
        <pc:cxnChg chg="mod">
          <ac:chgData name="Guest User" userId="" providerId="Windows Live" clId="Web-{00000000-0000-0000-0000-000000000000}" dt="2026-10-01T15:03:40.370" v="15" actId="1076"/>
          <ac:cxnSpMkLst>
            <pc:docMk/>
            <pc:sldMk cId="1662058197" sldId="257"/>
            <ac:cxnSpMk id="19" creationId="{00000000-0000-0000-0000-000000000000}"/>
          </ac:cxnSpMkLst>
        </pc:cxnChg>
        <pc:cxnChg chg="mod">
          <ac:chgData name="Guest User" userId="" providerId="Windows Live" clId="Web-{00000000-0000-0000-0000-000000000000}" dt="2026-10-01T15:03:40.386" v="16" actId="1076"/>
          <ac:cxnSpMkLst>
            <pc:docMk/>
            <pc:sldMk cId="1662058197" sldId="257"/>
            <ac:cxnSpMk id="20" creationId="{00000000-0000-0000-0000-000000000000}"/>
          </ac:cxnSpMkLst>
        </pc:cxnChg>
        <pc:cxnChg chg="mod">
          <ac:chgData name="Guest User" userId="" providerId="Windows Live" clId="Web-{00000000-0000-0000-0000-000000000000}" dt="2026-10-01T15:03:40.386" v="17" actId="1076"/>
          <ac:cxnSpMkLst>
            <pc:docMk/>
            <pc:sldMk cId="1662058197" sldId="257"/>
            <ac:cxnSpMk id="21" creationId="{00000000-0000-0000-0000-000000000000}"/>
          </ac:cxnSpMkLst>
        </pc:cxnChg>
        <pc:cxnChg chg="mod">
          <ac:chgData name="Guest User" userId="" providerId="Windows Live" clId="Web-{00000000-0000-0000-0000-000000000000}" dt="2026-10-01T15:03:40.402" v="18" actId="1076"/>
          <ac:cxnSpMkLst>
            <pc:docMk/>
            <pc:sldMk cId="1662058197" sldId="257"/>
            <ac:cxnSpMk id="22" creationId="{00000000-0000-0000-0000-000000000000}"/>
          </ac:cxnSpMkLst>
        </pc:cxnChg>
        <pc:cxnChg chg="mod">
          <ac:chgData name="Guest User" userId="" providerId="Windows Live" clId="Web-{00000000-0000-0000-0000-000000000000}" dt="2026-10-01T15:03:40.417" v="19" actId="1076"/>
          <ac:cxnSpMkLst>
            <pc:docMk/>
            <pc:sldMk cId="1662058197" sldId="257"/>
            <ac:cxnSpMk id="23" creationId="{00000000-0000-0000-0000-000000000000}"/>
          </ac:cxnSpMkLst>
        </pc:cxnChg>
        <pc:cxnChg chg="mod">
          <ac:chgData name="Guest User" userId="" providerId="Windows Live" clId="Web-{00000000-0000-0000-0000-000000000000}" dt="2026-10-01T15:03:40.433" v="20" actId="1076"/>
          <ac:cxnSpMkLst>
            <pc:docMk/>
            <pc:sldMk cId="1662058197" sldId="257"/>
            <ac:cxnSpMk id="24" creationId="{00000000-0000-0000-0000-000000000000}"/>
          </ac:cxnSpMkLst>
        </pc:cxnChg>
      </pc:sldChg>
      <pc:sldChg chg="modSp modNotes">
        <pc:chgData name="Guest User" userId="" providerId="Windows Live" clId="Web-{00000000-0000-0000-0000-000000000000}" dt="2026-10-01T21:34:41.622" v="117"/>
        <pc:sldMkLst>
          <pc:docMk/>
          <pc:sldMk cId="1783209669" sldId="258"/>
        </pc:sldMkLst>
        <pc:spChg chg="mod">
          <ac:chgData name="Guest User" userId="" providerId="Windows Live" clId="Web-{00000000-0000-0000-0000-000000000000}" dt="2026-10-01T21:34:41.590" v="115"/>
          <ac:spMkLst>
            <pc:docMk/>
            <pc:sldMk cId="1783209669" sldId="258"/>
            <ac:spMk id="4" creationId="{73A1A19C-AEA1-4829-BF8C-0EC57F9C8B6F}"/>
          </ac:spMkLst>
        </pc:spChg>
        <pc:spChg chg="mod">
          <ac:chgData name="Guest User" userId="" providerId="Windows Live" clId="Web-{00000000-0000-0000-0000-000000000000}" dt="2026-10-01T21:34:41.590" v="116"/>
          <ac:spMkLst>
            <pc:docMk/>
            <pc:sldMk cId="1783209669" sldId="258"/>
            <ac:spMk id="7" creationId="{AF582FCD-5E25-4FA5-A9CC-793C1F103866}"/>
          </ac:spMkLst>
        </pc:spChg>
        <pc:spChg chg="mod">
          <ac:chgData name="Guest User" userId="" providerId="Windows Live" clId="Web-{00000000-0000-0000-0000-000000000000}" dt="2026-10-01T21:34:41.622" v="117"/>
          <ac:spMkLst>
            <pc:docMk/>
            <pc:sldMk cId="1783209669" sldId="258"/>
            <ac:spMk id="10" creationId="{124862C1-0ED5-4350-9A76-4739FDEF37C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CA"/>
              <a:t>Hamza: </a:t>
            </a:r>
            <a:r>
              <a:t>We are proposing </a:t>
            </a:r>
            <a:r>
              <a:rPr lang="en-US" err="1"/>
              <a:t>TinyFIR</a:t>
            </a:r>
            <a:r>
              <a:t>, an SPI-programmable eight-tap finite impulse response filter for a combined one-by-two Tiny </a:t>
            </a:r>
            <a:r>
              <a:rPr lang="en-US" err="1"/>
              <a:t>Tapeout</a:t>
            </a:r>
            <a:r>
              <a:t> block on the GF180 process. A digital FIR filter computes a weighted sum of the current input sample and the seven samples before it</a:t>
            </a:r>
            <a:r>
              <a:rPr lang="en-CA"/>
              <a:t> to produce its generated output</a:t>
            </a:r>
            <a:r>
              <a:t>. </a:t>
            </a:r>
            <a:endParaRPr lang="en-CA"/>
          </a:p>
          <a:p>
            <a:endParaRPr lang="en-CA"/>
          </a:p>
          <a:p>
            <a:r>
              <a:rPr lang="en-CA"/>
              <a:t>Mohil: </a:t>
            </a:r>
            <a:r>
              <a:t>Our design stores signed eight-bit samples and programmable coefficients. An external sample </a:t>
            </a:r>
            <a:r>
              <a:rPr lang="en-CA"/>
              <a:t>ready input</a:t>
            </a:r>
            <a:r>
              <a:t> controls when a new sample enters, so the sample rate can vary independently of the faster system clock. The key area decision is to use one multiplier and accumulator sequentially for all eight taps instead of building eight multipliers in parallel. That saves hardware area, while requiring several clock cycles for each output.</a:t>
            </a:r>
          </a:p>
          <a:p>
            <a:endParaRPr/>
          </a:p>
          <a:p>
            <a:r>
              <a:rPr lang="en-CA"/>
              <a:t>Hamza: </a:t>
            </a:r>
            <a:r>
              <a:t>The same hardware can demonstrate low-pass, high-pass and band-pass filtering by loading different coefficient sets through SPI. The chip is entirely </a:t>
            </a:r>
            <a:r>
              <a:rPr lang="en-CA"/>
              <a:t>digital, and any</a:t>
            </a:r>
            <a:r>
              <a:t> analog input conditioning or conversion happens outside </a:t>
            </a:r>
            <a:r>
              <a:rPr lang="en-US"/>
              <a:t>the block</a:t>
            </a:r>
            <a: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CA"/>
              <a:t>Gurpal: </a:t>
            </a:r>
            <a:r>
              <a:t>This diagram shows the data path for one accepted sample. The eight-bit sample input feeds a bank of eight history registers. On an accepted sample </a:t>
            </a:r>
            <a:r>
              <a:rPr lang="en-CA"/>
              <a:t>ready input</a:t>
            </a:r>
            <a:r>
              <a:t>, the circuit stores the new sample and shifts the older values through the history. </a:t>
            </a:r>
            <a:r>
              <a:rPr lang="en-CA"/>
              <a:t>When t</a:t>
            </a:r>
            <a:r>
              <a:t>he host </a:t>
            </a:r>
            <a:r>
              <a:rPr lang="en-CA"/>
              <a:t>sets </a:t>
            </a:r>
            <a:r>
              <a:t>the ready signal </a:t>
            </a:r>
            <a:r>
              <a:rPr lang="en-CA"/>
              <a:t>to high; </a:t>
            </a:r>
            <a:r>
              <a:t>it must keep the sample </a:t>
            </a:r>
            <a:r>
              <a:rPr lang="en-CA"/>
              <a:t>inputs </a:t>
            </a:r>
            <a:r>
              <a:t>stable through </a:t>
            </a:r>
            <a:r>
              <a:rPr lang="en-CA"/>
              <a:t>the cycle</a:t>
            </a:r>
            <a:r>
              <a:t>.</a:t>
            </a:r>
            <a:r>
              <a:rPr lang="en-CA"/>
              <a:t> </a:t>
            </a:r>
            <a:r>
              <a:rPr lang="en-US"/>
              <a:t>The equation here shows that each sample is multiplied by a coefficient, then all eight products are added together.</a:t>
            </a:r>
            <a:endParaRPr/>
          </a:p>
          <a:p>
            <a:endParaRPr/>
          </a:p>
          <a:p>
            <a:r>
              <a:rPr lang="en-CA"/>
              <a:t>Ayaan: </a:t>
            </a:r>
            <a:r>
              <a:t>The tap selector chooses one history sample and its matching coefficient. The SPI interface lets the host write those eight signed nine-bit coefficients. The controller then reuses one shared multiplier and accumulator: it multiplies the selected sample by its coefficient, adds the product, advances the tap index, and repeats until all eight taps are complete. This is the main area-saving decision in the architecture.</a:t>
            </a:r>
          </a:p>
          <a:p>
            <a:endParaRPr/>
          </a:p>
          <a:p>
            <a:r>
              <a:rPr lang="en-CA"/>
              <a:t>Gurpal: </a:t>
            </a:r>
            <a:r>
              <a:t>After the eighth tap, the accumulated fixed-point value shifts right by seven bits, then </a:t>
            </a:r>
            <a:r>
              <a:rPr lang="en-CA"/>
              <a:t>moves </a:t>
            </a:r>
            <a:r>
              <a:t>to the signed eight-bit output range. Saturation clamps an out-of-range result rather than allowing it to wrap around. The output register holds the result, and </a:t>
            </a:r>
            <a:r>
              <a:rPr lang="en-US"/>
              <a:t>output_valid</a:t>
            </a:r>
            <a:r>
              <a:t> pulses for one system-clock cycle to announce that a new result is ready.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CA"/>
              <a:t>Ayaan: </a:t>
            </a:r>
            <a:r>
              <a:t>These are proposed performance targets, not measured results. The design is planned for a </a:t>
            </a:r>
            <a:r>
              <a:rPr lang="en-US"/>
              <a:t>10 MHz system</a:t>
            </a:r>
            <a:r>
              <a:t> clock, </a:t>
            </a:r>
            <a:r>
              <a:rPr lang="en-CA"/>
              <a:t>and </a:t>
            </a:r>
            <a:r>
              <a:t>at </a:t>
            </a:r>
            <a:r>
              <a:rPr lang="en-US"/>
              <a:t>most 16 cycles to finish calculating the sample output, and</a:t>
            </a:r>
            <a:r>
              <a:t> a maximum sample rate of</a:t>
            </a:r>
            <a:r>
              <a:rPr lang="en-US"/>
              <a:t> 500,000 </a:t>
            </a:r>
            <a:r>
              <a:t>samples per second. At</a:t>
            </a:r>
            <a:r>
              <a:rPr lang="en-US"/>
              <a:t> 10</a:t>
            </a:r>
            <a:r>
              <a:t> </a:t>
            </a:r>
            <a:r>
              <a:rPr lang="en-US"/>
              <a:t>MHz</a:t>
            </a:r>
            <a:r>
              <a:t>, that sample rate leaves twenty system-clock cycles between samples. The interface synchronization and processing both</a:t>
            </a:r>
            <a:r>
              <a:rPr lang="en-CA"/>
              <a:t> must fit the 20-cycle </a:t>
            </a:r>
            <a:r>
              <a:t>budget.</a:t>
            </a:r>
          </a:p>
          <a:p>
            <a:endParaRPr/>
          </a:p>
          <a:p>
            <a:r>
              <a:rPr lang="en-CA"/>
              <a:t>Hamza: </a:t>
            </a:r>
            <a:r>
              <a:t>For arithmetic, we use signed eight-bit samples, signed nine-bit coefficients stored as integers scaled by one hundred twenty-eight, and a twenty-bit accumulator. The output shifts right by seven and saturates to the signed eight-bit range. </a:t>
            </a:r>
            <a:r>
              <a:rPr lang="en-CA"/>
              <a:t>We</a:t>
            </a:r>
            <a:r>
              <a:t> will build the Python integer reference model and coordinate system verification. We plan to compare at least ten thousand random samples </a:t>
            </a:r>
            <a:r>
              <a:rPr lang="en-CA"/>
              <a:t>and </a:t>
            </a:r>
            <a:r>
              <a:t>check reset, SPI coefficient access, impulse response, pass-through, signed rounding, and variable-rate input.</a:t>
            </a:r>
          </a:p>
          <a:p>
            <a:endParaRPr/>
          </a:p>
          <a:p>
            <a:r>
              <a:rPr lang="en-CA"/>
              <a:t>Mohil: </a:t>
            </a:r>
            <a:r>
              <a:t>The final demonstrations will load coefficient sets for low-pass, high-pass and band-pass responses. Eight taps give relatively broad transitions, so we are not promising sharp frequency cutoffs. The work is divided by subsystem across Ayaan, Gurpal, Mohil and Hamza. All four members will review interfaces, help integrate the RTL and contribute to the </a:t>
            </a:r>
            <a:r>
              <a:rPr lang="en-CA"/>
              <a:t>results</a:t>
            </a:r>
            <a:r>
              <a: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B2B"/>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srcRect/>
          <a:stretch>
            <a:fillRect/>
          </a:stretch>
        </p:blipFill>
        <p:spPr>
          <a:xfrm>
            <a:off x="0" y="0"/>
            <a:ext cx="12192000" cy="6858000"/>
          </a:xfrm>
          <a:prstGeom prst="rect">
            <a:avLst/>
          </a:prstGeom>
        </p:spPr>
      </p:pic>
      <p:sp>
        <p:nvSpPr>
          <p:cNvPr id="3" name="cover-kicker">
            <a:extLst>
              <a:ext uri="{FF2B5EF4-FFF2-40B4-BE49-F238E27FC236}">
                <a16:creationId xmlns:a16="http://schemas.microsoft.com/office/drawing/2014/main" id="{F1AC11CD-F467-48B0-A12E-77B42C28B0CC}"/>
              </a:ext>
            </a:extLst>
          </p:cNvPr>
          <p:cNvSpPr>
            <a:spLocks noGrp="1"/>
          </p:cNvSpPr>
          <p:nvPr/>
        </p:nvSpPr>
        <p:spPr>
          <a:xfrm>
            <a:off x="685800" y="819150"/>
            <a:ext cx="6858000" cy="342900"/>
          </a:xfrm>
          <a:prstGeom prst="rect">
            <a:avLst/>
          </a:prstGeom>
          <a:noFill/>
          <a:ln w="0">
            <a:noFill/>
            <a:prstDash val="solid"/>
          </a:ln>
        </p:spPr>
        <p:txBody>
          <a:bodyPr anchor="ctr">
            <a:normAutofit/>
          </a:bodyPr>
          <a:lstStyle/>
          <a:p>
            <a:pPr algn="l">
              <a:defRPr sz="1500" b="1">
                <a:solidFill>
                  <a:srgbClr val="A9DDE4"/>
                </a:solidFill>
                <a:latin typeface="Bitstream Charter"/>
                <a:ea typeface="Bitstream Charter"/>
                <a:cs typeface="Bitstream Charter"/>
              </a:defRPr>
            </a:pPr>
            <a:r>
              <a:rPr sz="1500" b="1">
                <a:solidFill>
                  <a:srgbClr val="A9DDE4"/>
                </a:solidFill>
                <a:latin typeface="Bitstream Charter"/>
                <a:ea typeface="Bitstream Charter"/>
                <a:cs typeface="Bitstream Charter"/>
              </a:rPr>
              <a:t>ECE298A</a:t>
            </a:r>
            <a:r>
              <a:rPr lang="en-US" sz="1500" b="1">
                <a:solidFill>
                  <a:srgbClr val="A9DDE4"/>
                </a:solidFill>
                <a:latin typeface="Bitstream Charter"/>
                <a:ea typeface="Bitstream Charter"/>
                <a:cs typeface="Bitstream Charter"/>
              </a:rPr>
              <a:t> </a:t>
            </a:r>
            <a:r>
              <a:rPr sz="1500" b="1">
                <a:solidFill>
                  <a:srgbClr val="A9DDE4"/>
                </a:solidFill>
                <a:latin typeface="Bitstream Charter"/>
                <a:ea typeface="Bitstream Charter"/>
                <a:cs typeface="Bitstream Charter"/>
              </a:rPr>
              <a:t>PROJECT PROPOSAL</a:t>
            </a:r>
          </a:p>
        </p:txBody>
      </p:sp>
      <p:sp>
        <p:nvSpPr>
          <p:cNvPr id="4" name="cover-title">
            <a:extLst>
              <a:ext uri="{FF2B5EF4-FFF2-40B4-BE49-F238E27FC236}">
                <a16:creationId xmlns:a16="http://schemas.microsoft.com/office/drawing/2014/main" id="{6FCB8A50-C8E0-4532-ADF7-FA09AC33D62D}"/>
              </a:ext>
            </a:extLst>
          </p:cNvPr>
          <p:cNvSpPr>
            <a:spLocks noGrp="1"/>
          </p:cNvSpPr>
          <p:nvPr/>
        </p:nvSpPr>
        <p:spPr>
          <a:xfrm>
            <a:off x="685800" y="1352550"/>
            <a:ext cx="6667500" cy="857250"/>
          </a:xfrm>
          <a:prstGeom prst="rect">
            <a:avLst/>
          </a:prstGeom>
          <a:noFill/>
          <a:ln w="0">
            <a:noFill/>
            <a:prstDash val="solid"/>
          </a:ln>
        </p:spPr>
        <p:txBody>
          <a:bodyPr anchor="ctr">
            <a:normAutofit fontScale="98529"/>
          </a:bodyPr>
          <a:lstStyle/>
          <a:p>
            <a:pPr algn="l">
              <a:defRPr sz="5100" b="1">
                <a:solidFill>
                  <a:srgbClr val="FFFFFF"/>
                </a:solidFill>
                <a:latin typeface="Bitstream Charter"/>
                <a:ea typeface="Bitstream Charter"/>
                <a:cs typeface="Bitstream Charter"/>
              </a:defRPr>
            </a:pPr>
            <a:r>
              <a:rPr sz="5100" b="1">
                <a:solidFill>
                  <a:srgbClr val="FFFFFF"/>
                </a:solidFill>
                <a:latin typeface="Bitstream Charter"/>
                <a:ea typeface="Bitstream Charter"/>
                <a:cs typeface="Bitstream Charter"/>
              </a:rPr>
              <a:t>TinyFIR</a:t>
            </a:r>
          </a:p>
        </p:txBody>
      </p:sp>
      <p:sp>
        <p:nvSpPr>
          <p:cNvPr id="5" name="cover-subtitle">
            <a:extLst>
              <a:ext uri="{FF2B5EF4-FFF2-40B4-BE49-F238E27FC236}">
                <a16:creationId xmlns:a16="http://schemas.microsoft.com/office/drawing/2014/main" id="{21FAA243-D3F4-488C-BFE9-3BF592B7C8BA}"/>
              </a:ext>
            </a:extLst>
          </p:cNvPr>
          <p:cNvSpPr>
            <a:spLocks noGrp="1"/>
          </p:cNvSpPr>
          <p:nvPr/>
        </p:nvSpPr>
        <p:spPr>
          <a:xfrm>
            <a:off x="704850" y="2238375"/>
            <a:ext cx="7477125" cy="533400"/>
          </a:xfrm>
          <a:prstGeom prst="rect">
            <a:avLst/>
          </a:prstGeom>
          <a:noFill/>
          <a:ln w="0">
            <a:noFill/>
            <a:prstDash val="solid"/>
          </a:ln>
        </p:spPr>
        <p:txBody>
          <a:bodyPr anchor="ctr">
            <a:normAutofit/>
          </a:bodyPr>
          <a:lstStyle/>
          <a:p>
            <a:pPr algn="l">
              <a:defRPr sz="2550" b="1">
                <a:solidFill>
                  <a:srgbClr val="FFFFFF"/>
                </a:solidFill>
                <a:latin typeface="Bitstream Charter"/>
                <a:ea typeface="Bitstream Charter"/>
                <a:cs typeface="Bitstream Charter"/>
              </a:defRPr>
            </a:pPr>
            <a:r>
              <a:rPr sz="2550" b="1">
                <a:solidFill>
                  <a:srgbClr val="FFFFFF"/>
                </a:solidFill>
                <a:latin typeface="Bitstream Charter"/>
                <a:ea typeface="Bitstream Charter"/>
                <a:cs typeface="Bitstream Charter"/>
              </a:rPr>
              <a:t>SPI-Programmable 8-Tap FIR Filter</a:t>
            </a:r>
          </a:p>
        </p:txBody>
      </p:sp>
      <p:sp>
        <p:nvSpPr>
          <p:cNvPr id="6" name="cover-purpose">
            <a:extLst>
              <a:ext uri="{FF2B5EF4-FFF2-40B4-BE49-F238E27FC236}">
                <a16:creationId xmlns:a16="http://schemas.microsoft.com/office/drawing/2014/main" id="{9FA5ACB0-3295-4ADA-BACB-0C9ADDD66B84}"/>
              </a:ext>
            </a:extLst>
          </p:cNvPr>
          <p:cNvSpPr>
            <a:spLocks noGrp="1"/>
          </p:cNvSpPr>
          <p:nvPr/>
        </p:nvSpPr>
        <p:spPr>
          <a:xfrm>
            <a:off x="704850" y="3190875"/>
            <a:ext cx="6381750" cy="857250"/>
          </a:xfrm>
          <a:prstGeom prst="rect">
            <a:avLst/>
          </a:prstGeom>
          <a:noFill/>
          <a:ln w="0">
            <a:noFill/>
            <a:prstDash val="solid"/>
          </a:ln>
        </p:spPr>
        <p:txBody>
          <a:bodyPr anchor="ctr">
            <a:normAutofit/>
          </a:bodyPr>
          <a:lstStyle/>
          <a:p>
            <a:pPr algn="l">
              <a:defRPr sz="2025" b="0">
                <a:solidFill>
                  <a:srgbClr val="E1EDF0"/>
                </a:solidFill>
                <a:latin typeface="Bitstream Charter"/>
                <a:ea typeface="Bitstream Charter"/>
                <a:cs typeface="Bitstream Charter"/>
              </a:defRPr>
            </a:pPr>
            <a:r>
              <a:rPr sz="2025" b="0">
                <a:solidFill>
                  <a:srgbClr val="E1EDF0"/>
                </a:solidFill>
                <a:latin typeface="Bitstream Charter"/>
                <a:ea typeface="Bitstream Charter"/>
                <a:cs typeface="Bitstream Charter"/>
              </a:rPr>
              <a:t>A compact digital filter that stores the last eight samples and computes their weighted sum.</a:t>
            </a:r>
          </a:p>
        </p:txBody>
      </p:sp>
      <p:sp>
        <p:nvSpPr>
          <p:cNvPr id="9" name="cover-team">
            <a:extLst>
              <a:ext uri="{FF2B5EF4-FFF2-40B4-BE49-F238E27FC236}">
                <a16:creationId xmlns:a16="http://schemas.microsoft.com/office/drawing/2014/main" id="{EA032404-FFDF-438F-A8D5-DCE380CCBD98}"/>
              </a:ext>
            </a:extLst>
          </p:cNvPr>
          <p:cNvSpPr>
            <a:spLocks noGrp="1"/>
          </p:cNvSpPr>
          <p:nvPr/>
        </p:nvSpPr>
        <p:spPr>
          <a:xfrm>
            <a:off x="685800" y="4371975"/>
            <a:ext cx="10287000" cy="323850"/>
          </a:xfrm>
          <a:prstGeom prst="rect">
            <a:avLst/>
          </a:prstGeom>
          <a:noFill/>
          <a:ln w="0">
            <a:noFill/>
            <a:prstDash val="solid"/>
          </a:ln>
        </p:spPr>
        <p:txBody>
          <a:bodyPr anchor="ctr">
            <a:normAutofit/>
          </a:bodyPr>
          <a:lstStyle/>
          <a:p>
            <a:pPr algn="l">
              <a:defRPr sz="1425" b="0">
                <a:solidFill>
                  <a:srgbClr val="D1DEE2"/>
                </a:solidFill>
                <a:latin typeface="Bitstream Charter"/>
                <a:ea typeface="Bitstream Charter"/>
                <a:cs typeface="Bitstream Charter"/>
              </a:defRPr>
            </a:pPr>
            <a:r>
              <a:rPr sz="1425" b="0">
                <a:solidFill>
                  <a:srgbClr val="D1DEE2"/>
                </a:solidFill>
                <a:latin typeface="Bitstream Charter"/>
                <a:ea typeface="Bitstream Charter"/>
                <a:cs typeface="Bitstream Charter"/>
              </a:rPr>
              <a:t>Hamza Soofi, Gurpal Johal, Mohil Kadakia and Ayaan </a:t>
            </a:r>
            <a:r>
              <a:rPr sz="1425" b="0" err="1">
                <a:solidFill>
                  <a:srgbClr val="D1DEE2"/>
                </a:solidFill>
                <a:latin typeface="Bitstream Charter"/>
                <a:ea typeface="Bitstream Charter"/>
                <a:cs typeface="Bitstream Charter"/>
              </a:rPr>
              <a:t>Tunio</a:t>
            </a:r>
            <a:endParaRPr sz="1425" b="0">
              <a:solidFill>
                <a:srgbClr val="D1DEE2"/>
              </a:solidFill>
              <a:latin typeface="Bitstream Charter"/>
              <a:ea typeface="Bitstream Charter"/>
              <a:cs typeface="Bitstream Charter"/>
            </a:endParaRPr>
          </a:p>
        </p:txBody>
      </p:sp>
    </p:spTree>
    <p:extLst>
      <p:ext uri="{BB962C8B-B14F-4D97-AF65-F5344CB8AC3E}">
        <p14:creationId xmlns:p14="http://schemas.microsoft.com/office/powerpoint/2010/main" val="17849617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7F6"/>
        </a:solidFill>
        <a:effectLst/>
      </p:bgPr>
    </p:bg>
    <p:spTree>
      <p:nvGrpSpPr>
        <p:cNvPr id="1" name=""/>
        <p:cNvGrpSpPr/>
        <p:nvPr/>
      </p:nvGrpSpPr>
      <p:grpSpPr>
        <a:xfrm>
          <a:off x="0" y="0"/>
          <a:ext cx="0" cy="0"/>
          <a:chOff x="0" y="0"/>
          <a:chExt cx="0" cy="0"/>
        </a:xfrm>
      </p:grpSpPr>
      <p:cxnSp>
        <p:nvCxnSpPr>
          <p:cNvPr id="19" name="Connector: Elbow 18"/>
          <p:cNvCxnSpPr>
            <a:cxnSpLocks/>
          </p:cNvCxnSpPr>
          <p:nvPr/>
        </p:nvCxnSpPr>
        <p:spPr>
          <a:xfrm flipH="1" flipV="1">
            <a:off x="4939030" y="4294505"/>
            <a:ext cx="1181100" cy="695325"/>
          </a:xfrm>
          <a:prstGeom prst="bentConnector4">
            <a:avLst>
              <a:gd name="adj1" fmla="val 0"/>
              <a:gd name="adj2" fmla="val 50000"/>
            </a:avLst>
          </a:prstGeom>
          <a:ln w="23813">
            <a:solidFill>
              <a:srgbClr val="E99A5A"/>
            </a:solidFill>
            <a:prstDash val="solid"/>
            <a:tailEnd type="arrow" w="med" len="med"/>
          </a:ln>
        </p:spPr>
      </p:cxnSp>
      <p:cxnSp>
        <p:nvCxnSpPr>
          <p:cNvPr id="20" name="Straight Arrow Connector 19"/>
          <p:cNvCxnSpPr>
            <a:cxnSpLocks/>
          </p:cNvCxnSpPr>
          <p:nvPr/>
        </p:nvCxnSpPr>
        <p:spPr>
          <a:xfrm>
            <a:off x="9339580" y="3556318"/>
            <a:ext cx="247650" cy="0"/>
          </a:xfrm>
          <a:prstGeom prst="straightConnector1">
            <a:avLst/>
          </a:prstGeom>
          <a:ln w="28575">
            <a:solidFill>
              <a:srgbClr val="137E91"/>
            </a:solidFill>
            <a:prstDash val="solid"/>
            <a:tailEnd type="arrow" w="med" len="med"/>
          </a:ln>
        </p:spPr>
      </p:cxnSp>
      <p:cxnSp>
        <p:nvCxnSpPr>
          <p:cNvPr id="21" name="Straight Arrow Connector 20"/>
          <p:cNvCxnSpPr>
            <a:cxnSpLocks/>
          </p:cNvCxnSpPr>
          <p:nvPr/>
        </p:nvCxnSpPr>
        <p:spPr>
          <a:xfrm>
            <a:off x="7529830" y="3556318"/>
            <a:ext cx="247650" cy="0"/>
          </a:xfrm>
          <a:prstGeom prst="straightConnector1">
            <a:avLst/>
          </a:prstGeom>
          <a:ln w="28575">
            <a:solidFill>
              <a:srgbClr val="137E91"/>
            </a:solidFill>
            <a:prstDash val="solid"/>
            <a:tailEnd type="arrow" w="med" len="med"/>
          </a:ln>
        </p:spPr>
      </p:cxnSp>
      <p:cxnSp>
        <p:nvCxnSpPr>
          <p:cNvPr id="22" name="Straight Arrow Connector 21"/>
          <p:cNvCxnSpPr>
            <a:cxnSpLocks/>
          </p:cNvCxnSpPr>
          <p:nvPr/>
        </p:nvCxnSpPr>
        <p:spPr>
          <a:xfrm>
            <a:off x="5720080" y="3556318"/>
            <a:ext cx="247650" cy="0"/>
          </a:xfrm>
          <a:prstGeom prst="straightConnector1">
            <a:avLst/>
          </a:prstGeom>
          <a:ln w="28575">
            <a:solidFill>
              <a:srgbClr val="137E91"/>
            </a:solidFill>
            <a:prstDash val="solid"/>
            <a:tailEnd type="arrow" w="med" len="med"/>
          </a:ln>
        </p:spPr>
      </p:cxnSp>
      <p:cxnSp>
        <p:nvCxnSpPr>
          <p:cNvPr id="23" name="Straight Arrow Connector 22"/>
          <p:cNvCxnSpPr>
            <a:cxnSpLocks/>
          </p:cNvCxnSpPr>
          <p:nvPr/>
        </p:nvCxnSpPr>
        <p:spPr>
          <a:xfrm>
            <a:off x="3910330" y="3556318"/>
            <a:ext cx="247650" cy="0"/>
          </a:xfrm>
          <a:prstGeom prst="straightConnector1">
            <a:avLst/>
          </a:prstGeom>
          <a:ln w="28575">
            <a:solidFill>
              <a:srgbClr val="137E91"/>
            </a:solidFill>
            <a:prstDash val="solid"/>
            <a:tailEnd type="arrow" w="med" len="med"/>
          </a:ln>
        </p:spPr>
      </p:cxnSp>
      <p:cxnSp>
        <p:nvCxnSpPr>
          <p:cNvPr id="24" name="Straight Arrow Connector 23"/>
          <p:cNvCxnSpPr>
            <a:cxnSpLocks/>
          </p:cNvCxnSpPr>
          <p:nvPr/>
        </p:nvCxnSpPr>
        <p:spPr>
          <a:xfrm>
            <a:off x="2100580" y="3556318"/>
            <a:ext cx="247650" cy="0"/>
          </a:xfrm>
          <a:prstGeom prst="straightConnector1">
            <a:avLst/>
          </a:prstGeom>
          <a:ln w="28575">
            <a:solidFill>
              <a:srgbClr val="137E91"/>
            </a:solidFill>
            <a:prstDash val="solid"/>
            <a:tailEnd type="arrow" w="med" len="med"/>
          </a:ln>
        </p:spPr>
      </p:cxnSp>
      <p:sp>
        <p:nvSpPr>
          <p:cNvPr id="25" name="slide2-top-rule">
            <a:extLst>
              <a:ext uri="{FF2B5EF4-FFF2-40B4-BE49-F238E27FC236}">
                <a16:creationId xmlns:a16="http://schemas.microsoft.com/office/drawing/2014/main" id="{BD5C5837-8F29-4472-A0FB-7956B66F2AFB}"/>
              </a:ext>
            </a:extLst>
          </p:cNvPr>
          <p:cNvSpPr>
            <a:spLocks noGrp="1"/>
          </p:cNvSpPr>
          <p:nvPr/>
        </p:nvSpPr>
        <p:spPr>
          <a:xfrm>
            <a:off x="0" y="0"/>
            <a:ext cx="12192000" cy="95250"/>
          </a:xfrm>
          <a:prstGeom prst="rect">
            <a:avLst/>
          </a:prstGeom>
          <a:solidFill>
            <a:srgbClr val="22A8BC"/>
          </a:solidFill>
          <a:ln w="0">
            <a:noFill/>
            <a:prstDash val="solid"/>
          </a:ln>
        </p:spPr>
        <p:txBody>
          <a:bodyPr/>
          <a:lstStyle/>
          <a:p>
            <a:endParaRPr lang="en-CA"/>
          </a:p>
        </p:txBody>
      </p:sp>
      <p:sp>
        <p:nvSpPr>
          <p:cNvPr id="2" name="slide2-title">
            <a:extLst>
              <a:ext uri="{FF2B5EF4-FFF2-40B4-BE49-F238E27FC236}">
                <a16:creationId xmlns:a16="http://schemas.microsoft.com/office/drawing/2014/main" id="{4E0C0EB2-95B4-40F7-8FCF-A2EF1B1CB95C}"/>
              </a:ext>
            </a:extLst>
          </p:cNvPr>
          <p:cNvSpPr>
            <a:spLocks noGrp="1"/>
          </p:cNvSpPr>
          <p:nvPr/>
        </p:nvSpPr>
        <p:spPr>
          <a:xfrm>
            <a:off x="609600" y="361950"/>
            <a:ext cx="8572500" cy="571500"/>
          </a:xfrm>
          <a:prstGeom prst="rect">
            <a:avLst/>
          </a:prstGeom>
          <a:noFill/>
          <a:ln w="0">
            <a:noFill/>
            <a:prstDash val="solid"/>
          </a:ln>
        </p:spPr>
        <p:txBody>
          <a:bodyPr anchor="ctr">
            <a:normAutofit fontScale="98804" lnSpcReduction="10000"/>
          </a:bodyPr>
          <a:lstStyle/>
          <a:p>
            <a:pPr algn="l">
              <a:defRPr sz="3450" b="1">
                <a:solidFill>
                  <a:srgbClr val="132A3E"/>
                </a:solidFill>
                <a:latin typeface="Bitstream Charter"/>
                <a:ea typeface="Bitstream Charter"/>
                <a:cs typeface="Bitstream Charter"/>
              </a:defRPr>
            </a:pPr>
            <a:r>
              <a:rPr sz="3450" b="1">
                <a:solidFill>
                  <a:srgbClr val="132A3E"/>
                </a:solidFill>
                <a:latin typeface="Bitstream Charter"/>
                <a:ea typeface="Bitstream Charter"/>
                <a:cs typeface="Bitstream Charter"/>
              </a:rPr>
              <a:t>Filter architecture</a:t>
            </a:r>
          </a:p>
        </p:txBody>
      </p:sp>
      <p:sp>
        <p:nvSpPr>
          <p:cNvPr id="3" name="slide2-subtitle">
            <a:extLst>
              <a:ext uri="{FF2B5EF4-FFF2-40B4-BE49-F238E27FC236}">
                <a16:creationId xmlns:a16="http://schemas.microsoft.com/office/drawing/2014/main" id="{2BD432BB-8750-4D2C-AA8E-1FE1A71547D8}"/>
              </a:ext>
            </a:extLst>
          </p:cNvPr>
          <p:cNvSpPr>
            <a:spLocks noGrp="1"/>
          </p:cNvSpPr>
          <p:nvPr/>
        </p:nvSpPr>
        <p:spPr>
          <a:xfrm>
            <a:off x="557530" y="1398905"/>
            <a:ext cx="10287000" cy="323850"/>
          </a:xfrm>
          <a:prstGeom prst="rect">
            <a:avLst/>
          </a:prstGeom>
          <a:noFill/>
          <a:ln w="0">
            <a:noFill/>
            <a:prstDash val="solid"/>
          </a:ln>
        </p:spPr>
        <p:txBody>
          <a:bodyPr anchor="ctr">
            <a:normAutofit fontScale="99924" lnSpcReduction="10000"/>
          </a:bodyPr>
          <a:lstStyle/>
          <a:p>
            <a:pPr algn="l">
              <a:defRPr sz="1650" b="0">
                <a:solidFill>
                  <a:srgbClr val="526779"/>
                </a:solidFill>
                <a:latin typeface="Bitstream Charter"/>
                <a:ea typeface="Bitstream Charter"/>
                <a:cs typeface="Bitstream Charter"/>
              </a:defRPr>
            </a:pPr>
            <a:r>
              <a:rPr sz="1650" b="0">
                <a:solidFill>
                  <a:srgbClr val="526779"/>
                </a:solidFill>
                <a:latin typeface="Bitstream Charter"/>
                <a:ea typeface="Bitstream Charter"/>
                <a:cs typeface="Bitstream Charter"/>
              </a:rPr>
              <a:t>One accepted sample triggers eight sequential tap calculations</a:t>
            </a:r>
          </a:p>
        </p:txBody>
      </p:sp>
      <p:sp>
        <p:nvSpPr>
          <p:cNvPr id="4" name="stage-1">
            <a:extLst>
              <a:ext uri="{FF2B5EF4-FFF2-40B4-BE49-F238E27FC236}">
                <a16:creationId xmlns:a16="http://schemas.microsoft.com/office/drawing/2014/main" id="{6C660173-B785-4858-A2CA-0E0C58B5DD7B}"/>
              </a:ext>
            </a:extLst>
          </p:cNvPr>
          <p:cNvSpPr>
            <a:spLocks noGrp="1"/>
          </p:cNvSpPr>
          <p:nvPr/>
        </p:nvSpPr>
        <p:spPr>
          <a:xfrm>
            <a:off x="538480" y="2818130"/>
            <a:ext cx="1562100" cy="1476375"/>
          </a:xfrm>
          <a:prstGeom prst="roundRect">
            <a:avLst>
              <a:gd name="adj" fmla="val 7742"/>
            </a:avLst>
          </a:prstGeom>
          <a:solidFill>
            <a:srgbClr val="FFFFFF"/>
          </a:solidFill>
          <a:ln w="19050">
            <a:solidFill>
              <a:srgbClr val="CCD7DB"/>
            </a:solidFill>
            <a:prstDash val="solid"/>
          </a:ln>
        </p:spPr>
        <p:txBody>
          <a:bodyPr anchor="ctr">
            <a:normAutofit/>
          </a:bodyPr>
          <a:lstStyle/>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Sample input</a:t>
            </a:r>
          </a:p>
          <a:p>
            <a:endParaRPr sz="1575" b="0">
              <a:solidFill>
                <a:srgbClr val="132A3E"/>
              </a:solidFill>
              <a:latin typeface="Bitstream Charter"/>
              <a:ea typeface="Bitstream Charter"/>
              <a:cs typeface="Bitstream Charter"/>
            </a:endParaRPr>
          </a:p>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signed 8-bit</a:t>
            </a:r>
          </a:p>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digital sample</a:t>
            </a:r>
          </a:p>
        </p:txBody>
      </p:sp>
      <p:sp>
        <p:nvSpPr>
          <p:cNvPr id="5" name="stage-2">
            <a:extLst>
              <a:ext uri="{FF2B5EF4-FFF2-40B4-BE49-F238E27FC236}">
                <a16:creationId xmlns:a16="http://schemas.microsoft.com/office/drawing/2014/main" id="{D640D530-9DA0-44EA-9DEB-4E3434D9ABC3}"/>
              </a:ext>
            </a:extLst>
          </p:cNvPr>
          <p:cNvSpPr>
            <a:spLocks noGrp="1"/>
          </p:cNvSpPr>
          <p:nvPr/>
        </p:nvSpPr>
        <p:spPr>
          <a:xfrm>
            <a:off x="2348230" y="2818130"/>
            <a:ext cx="1562100" cy="1476375"/>
          </a:xfrm>
          <a:prstGeom prst="roundRect">
            <a:avLst>
              <a:gd name="adj" fmla="val 7742"/>
            </a:avLst>
          </a:prstGeom>
          <a:solidFill>
            <a:srgbClr val="FFFFFF"/>
          </a:solidFill>
          <a:ln w="19050">
            <a:solidFill>
              <a:srgbClr val="CCD7DB"/>
            </a:solidFill>
            <a:prstDash val="solid"/>
          </a:ln>
        </p:spPr>
        <p:txBody>
          <a:bodyPr anchor="ctr">
            <a:normAutofit/>
          </a:bodyPr>
          <a:lstStyle/>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Sample history</a:t>
            </a:r>
          </a:p>
          <a:p>
            <a:endParaRPr sz="1575" b="0">
              <a:solidFill>
                <a:srgbClr val="132A3E"/>
              </a:solidFill>
              <a:latin typeface="Bitstream Charter"/>
              <a:ea typeface="Bitstream Charter"/>
              <a:cs typeface="Bitstream Charter"/>
            </a:endParaRPr>
          </a:p>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8 registers</a:t>
            </a:r>
          </a:p>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shift on </a:t>
            </a:r>
            <a:r>
              <a:rPr lang="en-US" sz="1575" b="0">
                <a:solidFill>
                  <a:srgbClr val="132A3E"/>
                </a:solidFill>
                <a:latin typeface="Bitstream Charter"/>
                <a:ea typeface="Bitstream Charter"/>
                <a:cs typeface="Bitstream Charter"/>
              </a:rPr>
              <a:t>input ready signal</a:t>
            </a:r>
            <a:endParaRPr sz="1575" b="0">
              <a:solidFill>
                <a:srgbClr val="132A3E"/>
              </a:solidFill>
              <a:latin typeface="Bitstream Charter"/>
              <a:ea typeface="Bitstream Charter"/>
              <a:cs typeface="Bitstream Charter"/>
            </a:endParaRPr>
          </a:p>
        </p:txBody>
      </p:sp>
      <p:sp>
        <p:nvSpPr>
          <p:cNvPr id="6" name="stage-3">
            <a:extLst>
              <a:ext uri="{FF2B5EF4-FFF2-40B4-BE49-F238E27FC236}">
                <a16:creationId xmlns:a16="http://schemas.microsoft.com/office/drawing/2014/main" id="{45322374-5C83-4E50-932C-0F1C4B8B118D}"/>
              </a:ext>
            </a:extLst>
          </p:cNvPr>
          <p:cNvSpPr>
            <a:spLocks noGrp="1"/>
          </p:cNvSpPr>
          <p:nvPr/>
        </p:nvSpPr>
        <p:spPr>
          <a:xfrm>
            <a:off x="4157980" y="2818130"/>
            <a:ext cx="1562100" cy="1476375"/>
          </a:xfrm>
          <a:prstGeom prst="roundRect">
            <a:avLst>
              <a:gd name="adj" fmla="val 7742"/>
            </a:avLst>
          </a:prstGeom>
          <a:solidFill>
            <a:srgbClr val="E2F2F4"/>
          </a:solidFill>
          <a:ln w="19050">
            <a:solidFill>
              <a:srgbClr val="22A8BC"/>
            </a:solidFill>
            <a:prstDash val="solid"/>
          </a:ln>
        </p:spPr>
        <p:txBody>
          <a:bodyPr anchor="ctr">
            <a:normAutofit/>
          </a:bodyPr>
          <a:lstStyle/>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Tap selector</a:t>
            </a:r>
          </a:p>
          <a:p>
            <a:endParaRPr sz="1575" b="0">
              <a:solidFill>
                <a:srgbClr val="132A3E"/>
              </a:solidFill>
              <a:latin typeface="Bitstream Charter"/>
              <a:ea typeface="Bitstream Charter"/>
              <a:cs typeface="Bitstream Charter"/>
            </a:endParaRPr>
          </a:p>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choose x[n−k]</a:t>
            </a:r>
          </a:p>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and C[k]</a:t>
            </a:r>
          </a:p>
        </p:txBody>
      </p:sp>
      <p:sp>
        <p:nvSpPr>
          <p:cNvPr id="7" name="stage-4">
            <a:extLst>
              <a:ext uri="{FF2B5EF4-FFF2-40B4-BE49-F238E27FC236}">
                <a16:creationId xmlns:a16="http://schemas.microsoft.com/office/drawing/2014/main" id="{4AA5D6C5-3BBD-4A7B-9F83-98F22158C813}"/>
              </a:ext>
            </a:extLst>
          </p:cNvPr>
          <p:cNvSpPr>
            <a:spLocks noGrp="1"/>
          </p:cNvSpPr>
          <p:nvPr/>
        </p:nvSpPr>
        <p:spPr>
          <a:xfrm>
            <a:off x="5967730" y="2818130"/>
            <a:ext cx="1562100" cy="1476375"/>
          </a:xfrm>
          <a:prstGeom prst="roundRect">
            <a:avLst>
              <a:gd name="adj" fmla="val 7742"/>
            </a:avLst>
          </a:prstGeom>
          <a:solidFill>
            <a:srgbClr val="F8EEE5"/>
          </a:solidFill>
          <a:ln w="19050">
            <a:solidFill>
              <a:srgbClr val="E99A5A"/>
            </a:solidFill>
            <a:prstDash val="solid"/>
          </a:ln>
        </p:spPr>
        <p:txBody>
          <a:bodyPr anchor="ctr">
            <a:normAutofit fontScale="98436"/>
          </a:bodyPr>
          <a:lstStyle/>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Shared MAC</a:t>
            </a:r>
          </a:p>
          <a:p>
            <a:endParaRPr sz="1575" b="0">
              <a:solidFill>
                <a:srgbClr val="132A3E"/>
              </a:solidFill>
              <a:latin typeface="Bitstream Charter"/>
              <a:ea typeface="Bitstream Charter"/>
              <a:cs typeface="Bitstream Charter"/>
            </a:endParaRPr>
          </a:p>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multiply + add</a:t>
            </a:r>
          </a:p>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repeat for 8 taps</a:t>
            </a:r>
          </a:p>
        </p:txBody>
      </p:sp>
      <p:sp>
        <p:nvSpPr>
          <p:cNvPr id="8" name="stage-5">
            <a:extLst>
              <a:ext uri="{FF2B5EF4-FFF2-40B4-BE49-F238E27FC236}">
                <a16:creationId xmlns:a16="http://schemas.microsoft.com/office/drawing/2014/main" id="{7EE74190-31ED-4242-956E-BDFC9971698F}"/>
              </a:ext>
            </a:extLst>
          </p:cNvPr>
          <p:cNvSpPr>
            <a:spLocks noGrp="1"/>
          </p:cNvSpPr>
          <p:nvPr/>
        </p:nvSpPr>
        <p:spPr>
          <a:xfrm>
            <a:off x="7777480" y="2818130"/>
            <a:ext cx="1562100" cy="1476375"/>
          </a:xfrm>
          <a:prstGeom prst="roundRect">
            <a:avLst>
              <a:gd name="adj" fmla="val 7742"/>
            </a:avLst>
          </a:prstGeom>
          <a:solidFill>
            <a:srgbClr val="FFFFFF"/>
          </a:solidFill>
          <a:ln w="19050">
            <a:solidFill>
              <a:srgbClr val="CCD7DB"/>
            </a:solidFill>
            <a:prstDash val="solid"/>
          </a:ln>
        </p:spPr>
        <p:txBody>
          <a:bodyPr anchor="ctr">
            <a:normAutofit/>
          </a:bodyPr>
          <a:lstStyle/>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Scale + saturate</a:t>
            </a:r>
          </a:p>
          <a:p>
            <a:endParaRPr sz="1575" b="0">
              <a:solidFill>
                <a:srgbClr val="132A3E"/>
              </a:solidFill>
              <a:latin typeface="Bitstream Charter"/>
              <a:ea typeface="Bitstream Charter"/>
              <a:cs typeface="Bitstream Charter"/>
            </a:endParaRPr>
          </a:p>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shift right 7</a:t>
            </a:r>
          </a:p>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clamp to 8 bits</a:t>
            </a:r>
          </a:p>
        </p:txBody>
      </p:sp>
      <p:sp>
        <p:nvSpPr>
          <p:cNvPr id="9" name="stage-6">
            <a:extLst>
              <a:ext uri="{FF2B5EF4-FFF2-40B4-BE49-F238E27FC236}">
                <a16:creationId xmlns:a16="http://schemas.microsoft.com/office/drawing/2014/main" id="{9F888F9B-417F-4A5B-99D5-5203483134F5}"/>
              </a:ext>
            </a:extLst>
          </p:cNvPr>
          <p:cNvSpPr>
            <a:spLocks noGrp="1"/>
          </p:cNvSpPr>
          <p:nvPr/>
        </p:nvSpPr>
        <p:spPr>
          <a:xfrm>
            <a:off x="9587230" y="2818130"/>
            <a:ext cx="1562100" cy="1476375"/>
          </a:xfrm>
          <a:prstGeom prst="roundRect">
            <a:avLst>
              <a:gd name="adj" fmla="val 7742"/>
            </a:avLst>
          </a:prstGeom>
          <a:solidFill>
            <a:srgbClr val="FFFFFF"/>
          </a:solidFill>
          <a:ln w="19050">
            <a:solidFill>
              <a:srgbClr val="CCD7DB"/>
            </a:solidFill>
            <a:prstDash val="solid"/>
          </a:ln>
        </p:spPr>
        <p:txBody>
          <a:bodyPr anchor="ctr">
            <a:normAutofit/>
          </a:bodyPr>
          <a:lstStyle/>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Output register</a:t>
            </a:r>
          </a:p>
          <a:p>
            <a:endParaRPr sz="1575" b="0">
              <a:solidFill>
                <a:srgbClr val="132A3E"/>
              </a:solidFill>
              <a:latin typeface="Bitstream Charter"/>
              <a:ea typeface="Bitstream Charter"/>
              <a:cs typeface="Bitstream Charter"/>
            </a:endParaRPr>
          </a:p>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signed 8-bit</a:t>
            </a:r>
          </a:p>
          <a:p>
            <a:pPr algn="ctr">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result + valid</a:t>
            </a:r>
          </a:p>
        </p:txBody>
      </p:sp>
      <p:sp>
        <p:nvSpPr>
          <p:cNvPr id="15" name="spi-coefficient-bank">
            <a:extLst>
              <a:ext uri="{FF2B5EF4-FFF2-40B4-BE49-F238E27FC236}">
                <a16:creationId xmlns:a16="http://schemas.microsoft.com/office/drawing/2014/main" id="{8673AB49-6016-4083-8C04-0DC4D8046E80}"/>
              </a:ext>
            </a:extLst>
          </p:cNvPr>
          <p:cNvSpPr>
            <a:spLocks noGrp="1"/>
          </p:cNvSpPr>
          <p:nvPr/>
        </p:nvSpPr>
        <p:spPr>
          <a:xfrm>
            <a:off x="3834130" y="4989830"/>
            <a:ext cx="4572000" cy="800100"/>
          </a:xfrm>
          <a:prstGeom prst="roundRect">
            <a:avLst>
              <a:gd name="adj" fmla="val 14286"/>
            </a:avLst>
          </a:prstGeom>
          <a:solidFill>
            <a:srgbClr val="0B1B2B"/>
          </a:solidFill>
          <a:ln w="9525">
            <a:solidFill>
              <a:srgbClr val="0B1B2B"/>
            </a:solidFill>
            <a:prstDash val="solid"/>
          </a:ln>
        </p:spPr>
        <p:txBody>
          <a:bodyPr anchor="ctr">
            <a:normAutofit/>
          </a:bodyPr>
          <a:lstStyle/>
          <a:p>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SPI configuration</a:t>
            </a:r>
          </a:p>
          <a:p>
            <a:pPr algn="ctr">
              <a:defRPr sz="1650" b="1">
                <a:solidFill>
                  <a:srgbClr val="FFFFFF"/>
                </a:solidFill>
                <a:latin typeface="Bitstream Charter"/>
                <a:ea typeface="Bitstream Charter"/>
                <a:cs typeface="Bitstream Charter"/>
              </a:defRPr>
            </a:pPr>
            <a:r>
              <a:rPr sz="1650" b="1">
                <a:solidFill>
                  <a:srgbClr val="FFFFFF"/>
                </a:solidFill>
                <a:latin typeface="Bitstream Charter"/>
                <a:ea typeface="Bitstream Charter"/>
                <a:cs typeface="Bitstream Charter"/>
              </a:rPr>
              <a:t>8 signed 9-bit coefficients</a:t>
            </a:r>
          </a:p>
        </p:txBody>
      </p:sp>
      <p:sp>
        <p:nvSpPr>
          <p:cNvPr id="11" name="cover-equation">
            <a:extLst>
              <a:ext uri="{FF2B5EF4-FFF2-40B4-BE49-F238E27FC236}">
                <a16:creationId xmlns:a16="http://schemas.microsoft.com/office/drawing/2014/main" id="{8C4D59DF-56EA-B536-33E5-7734FDCD4B7F}"/>
              </a:ext>
            </a:extLst>
          </p:cNvPr>
          <p:cNvSpPr>
            <a:spLocks noGrp="1"/>
          </p:cNvSpPr>
          <p:nvPr/>
        </p:nvSpPr>
        <p:spPr>
          <a:xfrm>
            <a:off x="4481830" y="1941830"/>
            <a:ext cx="4075430" cy="514350"/>
          </a:xfrm>
          <a:prstGeom prst="rect">
            <a:avLst/>
          </a:prstGeom>
          <a:noFill/>
          <a:ln w="0">
            <a:noFill/>
            <a:prstDash val="solid"/>
          </a:ln>
        </p:spPr>
        <p:txBody>
          <a:bodyPr lIns="91440" tIns="45720" rIns="91440" bIns="45720" anchor="ctr">
            <a:normAutofit/>
          </a:bodyPr>
          <a:lstStyle/>
          <a:p>
            <a:pPr algn="l">
              <a:defRPr sz="2400" b="1">
                <a:solidFill>
                  <a:srgbClr val="9EDDE5"/>
                </a:solidFill>
                <a:latin typeface="Bitstream Charter"/>
                <a:ea typeface="Bitstream Charter"/>
                <a:cs typeface="Bitstream Charter"/>
              </a:defRPr>
            </a:pPr>
            <a:r>
              <a:rPr sz="2400" b="1">
                <a:solidFill>
                  <a:srgbClr val="9EDDE5"/>
                </a:solidFill>
                <a:latin typeface="Bitstream Charter"/>
                <a:ea typeface="Bitstream Charter"/>
                <a:cs typeface="Bitstream Charter"/>
              </a:rPr>
              <a:t>y[n] = Σₖ₌₀⁷ h[k]x[n−k]</a:t>
            </a:r>
          </a:p>
        </p:txBody>
      </p:sp>
    </p:spTree>
    <p:extLst>
      <p:ext uri="{BB962C8B-B14F-4D97-AF65-F5344CB8AC3E}">
        <p14:creationId xmlns:p14="http://schemas.microsoft.com/office/powerpoint/2010/main" val="1662058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7F6"/>
        </a:solidFill>
        <a:effectLst/>
      </p:bgPr>
    </p:bg>
    <p:spTree>
      <p:nvGrpSpPr>
        <p:cNvPr id="1" name=""/>
        <p:cNvGrpSpPr/>
        <p:nvPr/>
      </p:nvGrpSpPr>
      <p:grpSpPr>
        <a:xfrm>
          <a:off x="0" y="0"/>
          <a:ext cx="0" cy="0"/>
          <a:chOff x="0" y="0"/>
          <a:chExt cx="0" cy="0"/>
        </a:xfrm>
      </p:grpSpPr>
      <p:sp>
        <p:nvSpPr>
          <p:cNvPr id="30" name="slide3-top-rule">
            <a:extLst>
              <a:ext uri="{FF2B5EF4-FFF2-40B4-BE49-F238E27FC236}">
                <a16:creationId xmlns:a16="http://schemas.microsoft.com/office/drawing/2014/main" id="{94F464D8-5FB8-4435-AE68-3D21D0EBE1EE}"/>
              </a:ext>
            </a:extLst>
          </p:cNvPr>
          <p:cNvSpPr>
            <a:spLocks noGrp="1"/>
          </p:cNvSpPr>
          <p:nvPr/>
        </p:nvSpPr>
        <p:spPr>
          <a:xfrm>
            <a:off x="0" y="0"/>
            <a:ext cx="12192000" cy="95250"/>
          </a:xfrm>
          <a:prstGeom prst="rect">
            <a:avLst/>
          </a:prstGeom>
          <a:solidFill>
            <a:srgbClr val="22A8BC"/>
          </a:solidFill>
          <a:ln w="0">
            <a:noFill/>
            <a:prstDash val="solid"/>
          </a:ln>
        </p:spPr>
        <p:txBody>
          <a:bodyPr/>
          <a:lstStyle/>
          <a:p>
            <a:endParaRPr lang="en-CA"/>
          </a:p>
        </p:txBody>
      </p:sp>
      <p:sp>
        <p:nvSpPr>
          <p:cNvPr id="2" name="slide3-title">
            <a:extLst>
              <a:ext uri="{FF2B5EF4-FFF2-40B4-BE49-F238E27FC236}">
                <a16:creationId xmlns:a16="http://schemas.microsoft.com/office/drawing/2014/main" id="{E06C9735-0BB7-4048-BA29-9C0783E0D34C}"/>
              </a:ext>
            </a:extLst>
          </p:cNvPr>
          <p:cNvSpPr>
            <a:spLocks noGrp="1"/>
          </p:cNvSpPr>
          <p:nvPr/>
        </p:nvSpPr>
        <p:spPr>
          <a:xfrm>
            <a:off x="609600" y="361950"/>
            <a:ext cx="10477500" cy="571500"/>
          </a:xfrm>
          <a:prstGeom prst="rect">
            <a:avLst/>
          </a:prstGeom>
          <a:noFill/>
          <a:ln w="0">
            <a:noFill/>
            <a:prstDash val="solid"/>
          </a:ln>
        </p:spPr>
        <p:txBody>
          <a:bodyPr anchor="ctr">
            <a:normAutofit fontScale="95454"/>
          </a:bodyPr>
          <a:lstStyle/>
          <a:p>
            <a:pPr algn="l">
              <a:defRPr sz="3300" b="1">
                <a:solidFill>
                  <a:srgbClr val="132A3E"/>
                </a:solidFill>
                <a:latin typeface="Bitstream Charter"/>
                <a:ea typeface="Bitstream Charter"/>
                <a:cs typeface="Bitstream Charter"/>
              </a:defRPr>
            </a:pPr>
            <a:r>
              <a:rPr sz="3300" b="1">
                <a:solidFill>
                  <a:srgbClr val="132A3E"/>
                </a:solidFill>
                <a:latin typeface="Bitstream Charter"/>
                <a:ea typeface="Bitstream Charter"/>
                <a:cs typeface="Bitstream Charter"/>
              </a:rPr>
              <a:t>Targets, verification &amp; team</a:t>
            </a:r>
          </a:p>
        </p:txBody>
      </p:sp>
      <p:sp>
        <p:nvSpPr>
          <p:cNvPr id="4" name="metric-1-value">
            <a:extLst>
              <a:ext uri="{FF2B5EF4-FFF2-40B4-BE49-F238E27FC236}">
                <a16:creationId xmlns:a16="http://schemas.microsoft.com/office/drawing/2014/main" id="{73A1A19C-AEA1-4829-BF8C-0EC57F9C8B6F}"/>
              </a:ext>
            </a:extLst>
          </p:cNvPr>
          <p:cNvSpPr>
            <a:spLocks noGrp="1"/>
          </p:cNvSpPr>
          <p:nvPr/>
        </p:nvSpPr>
        <p:spPr>
          <a:xfrm>
            <a:off x="647700" y="1200150"/>
            <a:ext cx="3143250" cy="552450"/>
          </a:xfrm>
          <a:prstGeom prst="rect">
            <a:avLst/>
          </a:prstGeom>
          <a:noFill/>
          <a:ln w="0">
            <a:noFill/>
            <a:prstDash val="solid"/>
          </a:ln>
        </p:spPr>
        <p:txBody>
          <a:bodyPr anchor="ctr">
            <a:normAutofit fontScale="93798"/>
          </a:bodyPr>
          <a:lstStyle/>
          <a:p>
            <a:pPr algn="l">
              <a:defRPr sz="3225" b="1">
                <a:solidFill>
                  <a:srgbClr val="137E91"/>
                </a:solidFill>
                <a:latin typeface="Bitstream Charter"/>
                <a:ea typeface="Bitstream Charter"/>
                <a:cs typeface="Bitstream Charter"/>
              </a:defRPr>
            </a:pPr>
            <a:r>
              <a:rPr sz="3225" b="1">
                <a:solidFill>
                  <a:srgbClr val="156082"/>
                </a:solidFill>
                <a:latin typeface="Bitstream Charter"/>
                <a:ea typeface="Bitstream Charter"/>
                <a:cs typeface="Bitstream Charter"/>
              </a:rPr>
              <a:t>10 MHz</a:t>
            </a:r>
          </a:p>
        </p:txBody>
      </p:sp>
      <p:sp>
        <p:nvSpPr>
          <p:cNvPr id="5" name="metric-1-label">
            <a:extLst>
              <a:ext uri="{FF2B5EF4-FFF2-40B4-BE49-F238E27FC236}">
                <a16:creationId xmlns:a16="http://schemas.microsoft.com/office/drawing/2014/main" id="{FC7C4992-1585-4EA2-80EE-CFCACC8BBA6B}"/>
              </a:ext>
            </a:extLst>
          </p:cNvPr>
          <p:cNvSpPr>
            <a:spLocks noGrp="1"/>
          </p:cNvSpPr>
          <p:nvPr/>
        </p:nvSpPr>
        <p:spPr>
          <a:xfrm>
            <a:off x="647700" y="1771650"/>
            <a:ext cx="3143250" cy="342900"/>
          </a:xfrm>
          <a:prstGeom prst="rect">
            <a:avLst/>
          </a:prstGeom>
          <a:noFill/>
          <a:ln w="0">
            <a:noFill/>
            <a:prstDash val="solid"/>
          </a:ln>
        </p:spPr>
        <p:txBody>
          <a:bodyPr anchor="ctr">
            <a:normAutofit/>
          </a:bodyPr>
          <a:lstStyle/>
          <a:p>
            <a:pPr algn="l">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proposed system clock</a:t>
            </a:r>
          </a:p>
        </p:txBody>
      </p:sp>
      <p:sp>
        <p:nvSpPr>
          <p:cNvPr id="6" name="metric-divider-1">
            <a:extLst>
              <a:ext uri="{FF2B5EF4-FFF2-40B4-BE49-F238E27FC236}">
                <a16:creationId xmlns:a16="http://schemas.microsoft.com/office/drawing/2014/main" id="{AEAA9864-8DB8-4A76-AA50-7D0DFFBA1245}"/>
              </a:ext>
            </a:extLst>
          </p:cNvPr>
          <p:cNvSpPr>
            <a:spLocks noGrp="1"/>
          </p:cNvSpPr>
          <p:nvPr/>
        </p:nvSpPr>
        <p:spPr>
          <a:xfrm>
            <a:off x="4038600" y="1238250"/>
            <a:ext cx="0" cy="1066800"/>
          </a:xfrm>
          <a:prstGeom prst="line">
            <a:avLst/>
          </a:prstGeom>
          <a:noFill/>
          <a:ln w="19050">
            <a:solidFill>
              <a:srgbClr val="CCD7DB"/>
            </a:solidFill>
            <a:prstDash val="solid"/>
          </a:ln>
        </p:spPr>
        <p:txBody>
          <a:bodyPr/>
          <a:lstStyle/>
          <a:p>
            <a:endParaRPr lang="en-CA"/>
          </a:p>
        </p:txBody>
      </p:sp>
      <p:sp>
        <p:nvSpPr>
          <p:cNvPr id="7" name="metric-2-value">
            <a:extLst>
              <a:ext uri="{FF2B5EF4-FFF2-40B4-BE49-F238E27FC236}">
                <a16:creationId xmlns:a16="http://schemas.microsoft.com/office/drawing/2014/main" id="{AF582FCD-5E25-4FA5-A9CC-793C1F103866}"/>
              </a:ext>
            </a:extLst>
          </p:cNvPr>
          <p:cNvSpPr>
            <a:spLocks noGrp="1"/>
          </p:cNvSpPr>
          <p:nvPr/>
        </p:nvSpPr>
        <p:spPr>
          <a:xfrm>
            <a:off x="4324350" y="1200150"/>
            <a:ext cx="3143250" cy="552450"/>
          </a:xfrm>
          <a:prstGeom prst="rect">
            <a:avLst/>
          </a:prstGeom>
          <a:noFill/>
          <a:ln w="0">
            <a:noFill/>
            <a:prstDash val="solid"/>
          </a:ln>
        </p:spPr>
        <p:txBody>
          <a:bodyPr anchor="ctr">
            <a:normAutofit fontScale="93798"/>
          </a:bodyPr>
          <a:lstStyle/>
          <a:p>
            <a:pPr algn="l">
              <a:defRPr sz="3225" b="1">
                <a:solidFill>
                  <a:srgbClr val="E99A5A"/>
                </a:solidFill>
                <a:latin typeface="Bitstream Charter"/>
                <a:ea typeface="Bitstream Charter"/>
                <a:cs typeface="Bitstream Charter"/>
              </a:defRPr>
            </a:pPr>
            <a:r>
              <a:rPr sz="3225" b="1">
                <a:solidFill>
                  <a:srgbClr val="156082"/>
                </a:solidFill>
                <a:latin typeface="Bitstream Charter"/>
                <a:ea typeface="Bitstream Charter"/>
                <a:cs typeface="Bitstream Charter"/>
              </a:rPr>
              <a:t>≤16 cycles</a:t>
            </a:r>
          </a:p>
        </p:txBody>
      </p:sp>
      <p:sp>
        <p:nvSpPr>
          <p:cNvPr id="8" name="metric-2-label">
            <a:extLst>
              <a:ext uri="{FF2B5EF4-FFF2-40B4-BE49-F238E27FC236}">
                <a16:creationId xmlns:a16="http://schemas.microsoft.com/office/drawing/2014/main" id="{9C440027-8DDB-4868-80AF-A736B49A46DE}"/>
              </a:ext>
            </a:extLst>
          </p:cNvPr>
          <p:cNvSpPr>
            <a:spLocks noGrp="1"/>
          </p:cNvSpPr>
          <p:nvPr/>
        </p:nvSpPr>
        <p:spPr>
          <a:xfrm>
            <a:off x="4324350" y="1771650"/>
            <a:ext cx="3143250" cy="342900"/>
          </a:xfrm>
          <a:prstGeom prst="rect">
            <a:avLst/>
          </a:prstGeom>
          <a:noFill/>
          <a:ln w="0">
            <a:noFill/>
            <a:prstDash val="solid"/>
          </a:ln>
        </p:spPr>
        <p:txBody>
          <a:bodyPr anchor="ctr">
            <a:normAutofit/>
          </a:bodyPr>
          <a:lstStyle/>
          <a:p>
            <a:pPr algn="l">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processing latency target</a:t>
            </a:r>
          </a:p>
        </p:txBody>
      </p:sp>
      <p:sp>
        <p:nvSpPr>
          <p:cNvPr id="9" name="metric-divider-2">
            <a:extLst>
              <a:ext uri="{FF2B5EF4-FFF2-40B4-BE49-F238E27FC236}">
                <a16:creationId xmlns:a16="http://schemas.microsoft.com/office/drawing/2014/main" id="{4E061A0B-534A-47D6-B613-FCC3AB762FEA}"/>
              </a:ext>
            </a:extLst>
          </p:cNvPr>
          <p:cNvSpPr>
            <a:spLocks noGrp="1"/>
          </p:cNvSpPr>
          <p:nvPr/>
        </p:nvSpPr>
        <p:spPr>
          <a:xfrm>
            <a:off x="7715250" y="1238250"/>
            <a:ext cx="0" cy="1066800"/>
          </a:xfrm>
          <a:prstGeom prst="line">
            <a:avLst/>
          </a:prstGeom>
          <a:noFill/>
          <a:ln w="19050">
            <a:solidFill>
              <a:srgbClr val="CCD7DB"/>
            </a:solidFill>
            <a:prstDash val="solid"/>
          </a:ln>
        </p:spPr>
        <p:txBody>
          <a:bodyPr/>
          <a:lstStyle/>
          <a:p>
            <a:endParaRPr lang="en-CA"/>
          </a:p>
        </p:txBody>
      </p:sp>
      <p:sp>
        <p:nvSpPr>
          <p:cNvPr id="10" name="metric-3-value">
            <a:extLst>
              <a:ext uri="{FF2B5EF4-FFF2-40B4-BE49-F238E27FC236}">
                <a16:creationId xmlns:a16="http://schemas.microsoft.com/office/drawing/2014/main" id="{124862C1-0ED5-4350-9A76-4739FDEF37C8}"/>
              </a:ext>
            </a:extLst>
          </p:cNvPr>
          <p:cNvSpPr>
            <a:spLocks noGrp="1"/>
          </p:cNvSpPr>
          <p:nvPr/>
        </p:nvSpPr>
        <p:spPr>
          <a:xfrm>
            <a:off x="8001000" y="1200150"/>
            <a:ext cx="3143250" cy="552450"/>
          </a:xfrm>
          <a:prstGeom prst="rect">
            <a:avLst/>
          </a:prstGeom>
          <a:noFill/>
          <a:ln w="0">
            <a:noFill/>
            <a:prstDash val="solid"/>
          </a:ln>
        </p:spPr>
        <p:txBody>
          <a:bodyPr anchor="ctr">
            <a:normAutofit fontScale="93798"/>
          </a:bodyPr>
          <a:lstStyle/>
          <a:p>
            <a:pPr algn="l">
              <a:defRPr sz="3225" b="1">
                <a:solidFill>
                  <a:srgbClr val="137E91"/>
                </a:solidFill>
                <a:latin typeface="Bitstream Charter"/>
                <a:ea typeface="Bitstream Charter"/>
                <a:cs typeface="Bitstream Charter"/>
              </a:defRPr>
            </a:pPr>
            <a:r>
              <a:rPr sz="3225" b="1">
                <a:solidFill>
                  <a:srgbClr val="156082"/>
                </a:solidFill>
                <a:latin typeface="Bitstream Charter"/>
                <a:ea typeface="Bitstream Charter"/>
                <a:cs typeface="Bitstream Charter"/>
              </a:rPr>
              <a:t>500 ksample/s</a:t>
            </a:r>
          </a:p>
        </p:txBody>
      </p:sp>
      <p:sp>
        <p:nvSpPr>
          <p:cNvPr id="11" name="metric-3-label">
            <a:extLst>
              <a:ext uri="{FF2B5EF4-FFF2-40B4-BE49-F238E27FC236}">
                <a16:creationId xmlns:a16="http://schemas.microsoft.com/office/drawing/2014/main" id="{AF469F52-3FEC-479E-AF43-404E1DF6AD4A}"/>
              </a:ext>
            </a:extLst>
          </p:cNvPr>
          <p:cNvSpPr>
            <a:spLocks noGrp="1"/>
          </p:cNvSpPr>
          <p:nvPr/>
        </p:nvSpPr>
        <p:spPr>
          <a:xfrm>
            <a:off x="8001000" y="1771650"/>
            <a:ext cx="3143250" cy="342900"/>
          </a:xfrm>
          <a:prstGeom prst="rect">
            <a:avLst/>
          </a:prstGeom>
          <a:noFill/>
          <a:ln w="0">
            <a:noFill/>
            <a:prstDash val="solid"/>
          </a:ln>
        </p:spPr>
        <p:txBody>
          <a:bodyPr anchor="ctr">
            <a:normAutofit/>
          </a:bodyPr>
          <a:lstStyle/>
          <a:p>
            <a:pPr algn="l">
              <a:defRPr sz="1575" b="0">
                <a:solidFill>
                  <a:srgbClr val="132A3E"/>
                </a:solidFill>
                <a:latin typeface="Bitstream Charter"/>
                <a:ea typeface="Bitstream Charter"/>
                <a:cs typeface="Bitstream Charter"/>
              </a:defRPr>
            </a:pPr>
            <a:r>
              <a:rPr sz="1575" b="0">
                <a:solidFill>
                  <a:srgbClr val="132A3E"/>
                </a:solidFill>
                <a:latin typeface="Bitstream Charter"/>
                <a:ea typeface="Bitstream Charter"/>
                <a:cs typeface="Bitstream Charter"/>
              </a:rPr>
              <a:t>maximum sample-rate target</a:t>
            </a:r>
          </a:p>
        </p:txBody>
      </p:sp>
      <p:sp>
        <p:nvSpPr>
          <p:cNvPr id="12" name="target-divider">
            <a:extLst>
              <a:ext uri="{FF2B5EF4-FFF2-40B4-BE49-F238E27FC236}">
                <a16:creationId xmlns:a16="http://schemas.microsoft.com/office/drawing/2014/main" id="{32AEC50E-6546-4CEC-8197-FDBD0C7ED736}"/>
              </a:ext>
            </a:extLst>
          </p:cNvPr>
          <p:cNvSpPr>
            <a:spLocks noGrp="1"/>
          </p:cNvSpPr>
          <p:nvPr/>
        </p:nvSpPr>
        <p:spPr>
          <a:xfrm>
            <a:off x="590550" y="2390775"/>
            <a:ext cx="10896600" cy="0"/>
          </a:xfrm>
          <a:prstGeom prst="line">
            <a:avLst/>
          </a:prstGeom>
          <a:noFill/>
          <a:ln w="19050">
            <a:solidFill>
              <a:srgbClr val="CCD7DB"/>
            </a:solidFill>
            <a:prstDash val="solid"/>
          </a:ln>
        </p:spPr>
        <p:txBody>
          <a:bodyPr/>
          <a:lstStyle/>
          <a:p>
            <a:endParaRPr lang="en-CA"/>
          </a:p>
        </p:txBody>
      </p:sp>
      <p:sp>
        <p:nvSpPr>
          <p:cNvPr id="13" name="verification-heading">
            <a:extLst>
              <a:ext uri="{FF2B5EF4-FFF2-40B4-BE49-F238E27FC236}">
                <a16:creationId xmlns:a16="http://schemas.microsoft.com/office/drawing/2014/main" id="{D7C70F36-8D85-4A8D-BEB9-3CB7258766EB}"/>
              </a:ext>
            </a:extLst>
          </p:cNvPr>
          <p:cNvSpPr>
            <a:spLocks noGrp="1"/>
          </p:cNvSpPr>
          <p:nvPr/>
        </p:nvSpPr>
        <p:spPr>
          <a:xfrm>
            <a:off x="609600" y="2628900"/>
            <a:ext cx="5048250" cy="381000"/>
          </a:xfrm>
          <a:prstGeom prst="rect">
            <a:avLst/>
          </a:prstGeom>
          <a:noFill/>
          <a:ln w="0">
            <a:noFill/>
            <a:prstDash val="solid"/>
          </a:ln>
        </p:spPr>
        <p:txBody>
          <a:bodyPr anchor="ctr">
            <a:normAutofit fontScale="94856" lnSpcReduction="10000"/>
          </a:bodyPr>
          <a:lstStyle/>
          <a:p>
            <a:pPr algn="l">
              <a:defRPr sz="2175" b="1">
                <a:solidFill>
                  <a:srgbClr val="132A3E"/>
                </a:solidFill>
                <a:latin typeface="Bitstream Charter"/>
                <a:ea typeface="Bitstream Charter"/>
                <a:cs typeface="Bitstream Charter"/>
              </a:defRPr>
            </a:pPr>
            <a:r>
              <a:rPr sz="2175" b="1">
                <a:solidFill>
                  <a:srgbClr val="132A3E"/>
                </a:solidFill>
                <a:latin typeface="Bitstream Charter"/>
                <a:ea typeface="Bitstream Charter"/>
                <a:cs typeface="Bitstream Charter"/>
              </a:rPr>
              <a:t>Verification plan</a:t>
            </a:r>
          </a:p>
        </p:txBody>
      </p:sp>
      <p:sp>
        <p:nvSpPr>
          <p:cNvPr id="14" name="verification-lead">
            <a:extLst>
              <a:ext uri="{FF2B5EF4-FFF2-40B4-BE49-F238E27FC236}">
                <a16:creationId xmlns:a16="http://schemas.microsoft.com/office/drawing/2014/main" id="{3D816EFE-906D-4C2A-9A48-196FF139DA2A}"/>
              </a:ext>
            </a:extLst>
          </p:cNvPr>
          <p:cNvSpPr>
            <a:spLocks noGrp="1"/>
          </p:cNvSpPr>
          <p:nvPr/>
        </p:nvSpPr>
        <p:spPr>
          <a:xfrm>
            <a:off x="609600" y="3095625"/>
            <a:ext cx="5143500" cy="285750"/>
          </a:xfrm>
          <a:prstGeom prst="rect">
            <a:avLst/>
          </a:prstGeom>
          <a:noFill/>
          <a:ln w="0">
            <a:noFill/>
            <a:prstDash val="solid"/>
          </a:ln>
        </p:spPr>
        <p:txBody>
          <a:bodyPr anchor="ctr">
            <a:normAutofit fontScale="92273" lnSpcReduction="20000"/>
          </a:bodyPr>
          <a:lstStyle/>
          <a:p>
            <a:pPr algn="l">
              <a:defRPr sz="1650" b="1">
                <a:solidFill>
                  <a:srgbClr val="137E91"/>
                </a:solidFill>
                <a:latin typeface="Bitstream Charter"/>
                <a:ea typeface="Bitstream Charter"/>
                <a:cs typeface="Bitstream Charter"/>
              </a:defRPr>
            </a:pPr>
            <a:r>
              <a:rPr sz="1650" b="1">
                <a:solidFill>
                  <a:srgbClr val="137E91"/>
                </a:solidFill>
                <a:latin typeface="Bitstream Charter"/>
                <a:ea typeface="Bitstream Charter"/>
                <a:cs typeface="Bitstream Charter"/>
              </a:rPr>
              <a:t>Python integer reference model</a:t>
            </a:r>
          </a:p>
        </p:txBody>
      </p:sp>
      <p:sp>
        <p:nvSpPr>
          <p:cNvPr id="15" name="verification-body">
            <a:extLst>
              <a:ext uri="{FF2B5EF4-FFF2-40B4-BE49-F238E27FC236}">
                <a16:creationId xmlns:a16="http://schemas.microsoft.com/office/drawing/2014/main" id="{7B66D752-DBA0-4ED2-82BA-1F494600BB89}"/>
              </a:ext>
            </a:extLst>
          </p:cNvPr>
          <p:cNvSpPr>
            <a:spLocks noGrp="1"/>
          </p:cNvSpPr>
          <p:nvPr/>
        </p:nvSpPr>
        <p:spPr>
          <a:xfrm>
            <a:off x="609600" y="3467100"/>
            <a:ext cx="5143500" cy="1238250"/>
          </a:xfrm>
          <a:prstGeom prst="rect">
            <a:avLst/>
          </a:prstGeom>
          <a:noFill/>
          <a:ln w="0">
            <a:noFill/>
            <a:prstDash val="solid"/>
          </a:ln>
        </p:spPr>
        <p:txBody>
          <a:bodyPr anchor="ctr">
            <a:normAutofit/>
          </a:bodyPr>
          <a:lstStyle/>
          <a:p>
            <a:pPr algn="l">
              <a:defRPr sz="1500" b="0">
                <a:solidFill>
                  <a:srgbClr val="132A3E"/>
                </a:solidFill>
                <a:latin typeface="Bitstream Charter"/>
                <a:ea typeface="Bitstream Charter"/>
                <a:cs typeface="Bitstream Charter"/>
              </a:defRPr>
            </a:pPr>
            <a:r>
              <a:rPr sz="1500" b="0">
                <a:solidFill>
                  <a:srgbClr val="132A3E"/>
                </a:solidFill>
                <a:latin typeface="Bitstream Charter"/>
                <a:ea typeface="Bitstream Charter"/>
                <a:cs typeface="Bitstream Charter"/>
              </a:rPr>
              <a:t>Compare RTL against 10,000 random samples. Check reset, SPI writes, impulse response, unity pass-through, signed rounding, </a:t>
            </a:r>
            <a:r>
              <a:rPr lang="en-CA" sz="1500" b="0">
                <a:solidFill>
                  <a:srgbClr val="132A3E"/>
                </a:solidFill>
                <a:latin typeface="Bitstream Charter"/>
                <a:ea typeface="Bitstream Charter"/>
                <a:cs typeface="Bitstream Charter"/>
              </a:rPr>
              <a:t>and </a:t>
            </a:r>
            <a:r>
              <a:rPr sz="1500" b="0">
                <a:solidFill>
                  <a:srgbClr val="132A3E"/>
                </a:solidFill>
                <a:latin typeface="Bitstream Charter"/>
                <a:ea typeface="Bitstream Charter"/>
                <a:cs typeface="Bitstream Charter"/>
              </a:rPr>
              <a:t>saturation . Demonstrate low-pass, high-pass and band-pass responses.</a:t>
            </a:r>
          </a:p>
        </p:txBody>
      </p:sp>
      <p:sp>
        <p:nvSpPr>
          <p:cNvPr id="16" name="team-divider">
            <a:extLst>
              <a:ext uri="{FF2B5EF4-FFF2-40B4-BE49-F238E27FC236}">
                <a16:creationId xmlns:a16="http://schemas.microsoft.com/office/drawing/2014/main" id="{833A150B-FE4F-4122-BA06-8ACCCB815B4B}"/>
              </a:ext>
            </a:extLst>
          </p:cNvPr>
          <p:cNvSpPr>
            <a:spLocks noGrp="1"/>
          </p:cNvSpPr>
          <p:nvPr/>
        </p:nvSpPr>
        <p:spPr>
          <a:xfrm>
            <a:off x="6105525" y="2676525"/>
            <a:ext cx="0" cy="2238375"/>
          </a:xfrm>
          <a:prstGeom prst="line">
            <a:avLst/>
          </a:prstGeom>
          <a:noFill/>
          <a:ln w="19050">
            <a:solidFill>
              <a:srgbClr val="CCD7DB"/>
            </a:solidFill>
            <a:prstDash val="solid"/>
          </a:ln>
        </p:spPr>
        <p:txBody>
          <a:bodyPr/>
          <a:lstStyle/>
          <a:p>
            <a:endParaRPr lang="en-CA"/>
          </a:p>
        </p:txBody>
      </p:sp>
      <p:sp>
        <p:nvSpPr>
          <p:cNvPr id="17" name="team-heading">
            <a:extLst>
              <a:ext uri="{FF2B5EF4-FFF2-40B4-BE49-F238E27FC236}">
                <a16:creationId xmlns:a16="http://schemas.microsoft.com/office/drawing/2014/main" id="{86EE7C59-A26B-4D57-BF1B-965D371E0EDE}"/>
              </a:ext>
            </a:extLst>
          </p:cNvPr>
          <p:cNvSpPr>
            <a:spLocks noGrp="1"/>
          </p:cNvSpPr>
          <p:nvPr/>
        </p:nvSpPr>
        <p:spPr>
          <a:xfrm>
            <a:off x="6457950" y="2628900"/>
            <a:ext cx="4905375" cy="381000"/>
          </a:xfrm>
          <a:prstGeom prst="rect">
            <a:avLst/>
          </a:prstGeom>
          <a:noFill/>
          <a:ln w="0">
            <a:noFill/>
            <a:prstDash val="solid"/>
          </a:ln>
        </p:spPr>
        <p:txBody>
          <a:bodyPr anchor="ctr">
            <a:normAutofit fontScale="94856" lnSpcReduction="10000"/>
          </a:bodyPr>
          <a:lstStyle/>
          <a:p>
            <a:pPr algn="l">
              <a:defRPr sz="2175" b="1">
                <a:solidFill>
                  <a:srgbClr val="132A3E"/>
                </a:solidFill>
                <a:latin typeface="Bitstream Charter"/>
                <a:ea typeface="Bitstream Charter"/>
                <a:cs typeface="Bitstream Charter"/>
              </a:defRPr>
            </a:pPr>
            <a:r>
              <a:rPr sz="2175" b="1">
                <a:solidFill>
                  <a:srgbClr val="132A3E"/>
                </a:solidFill>
                <a:latin typeface="Bitstream Charter"/>
                <a:ea typeface="Bitstream Charter"/>
                <a:cs typeface="Bitstream Charter"/>
              </a:rPr>
              <a:t>Work split</a:t>
            </a:r>
          </a:p>
        </p:txBody>
      </p:sp>
      <p:sp>
        <p:nvSpPr>
          <p:cNvPr id="18" name="owner-1-name">
            <a:extLst>
              <a:ext uri="{FF2B5EF4-FFF2-40B4-BE49-F238E27FC236}">
                <a16:creationId xmlns:a16="http://schemas.microsoft.com/office/drawing/2014/main" id="{1BE73F91-00D1-438A-BB9C-36EDE09FDDB1}"/>
              </a:ext>
            </a:extLst>
          </p:cNvPr>
          <p:cNvSpPr>
            <a:spLocks noGrp="1"/>
          </p:cNvSpPr>
          <p:nvPr/>
        </p:nvSpPr>
        <p:spPr>
          <a:xfrm>
            <a:off x="6477000" y="3105150"/>
            <a:ext cx="1666875" cy="285750"/>
          </a:xfrm>
          <a:prstGeom prst="rect">
            <a:avLst/>
          </a:prstGeom>
          <a:noFill/>
          <a:ln w="0">
            <a:noFill/>
            <a:prstDash val="solid"/>
          </a:ln>
        </p:spPr>
        <p:txBody>
          <a:bodyPr anchor="ctr">
            <a:normAutofit fontScale="89474" lnSpcReduction="10000"/>
          </a:bodyPr>
          <a:lstStyle/>
          <a:p>
            <a:pPr algn="l">
              <a:defRPr sz="1425" b="1">
                <a:solidFill>
                  <a:srgbClr val="132A3E"/>
                </a:solidFill>
                <a:latin typeface="Bitstream Charter"/>
                <a:ea typeface="Bitstream Charter"/>
                <a:cs typeface="Bitstream Charter"/>
              </a:defRPr>
            </a:pPr>
            <a:r>
              <a:rPr sz="1425" b="1">
                <a:solidFill>
                  <a:srgbClr val="132A3E"/>
                </a:solidFill>
                <a:latin typeface="Bitstream Charter"/>
                <a:ea typeface="Bitstream Charter"/>
                <a:cs typeface="Bitstream Charter"/>
              </a:rPr>
              <a:t>Ayaan Tunio</a:t>
            </a:r>
          </a:p>
        </p:txBody>
      </p:sp>
      <p:sp>
        <p:nvSpPr>
          <p:cNvPr id="19" name="owner-1-task">
            <a:extLst>
              <a:ext uri="{FF2B5EF4-FFF2-40B4-BE49-F238E27FC236}">
                <a16:creationId xmlns:a16="http://schemas.microsoft.com/office/drawing/2014/main" id="{06FF6ED7-9088-4F1C-94BA-E745B9AABB0F}"/>
              </a:ext>
            </a:extLst>
          </p:cNvPr>
          <p:cNvSpPr>
            <a:spLocks noGrp="1"/>
          </p:cNvSpPr>
          <p:nvPr/>
        </p:nvSpPr>
        <p:spPr>
          <a:xfrm>
            <a:off x="8115300" y="3105150"/>
            <a:ext cx="3286125" cy="285750"/>
          </a:xfrm>
          <a:prstGeom prst="rect">
            <a:avLst/>
          </a:prstGeom>
          <a:noFill/>
          <a:ln w="0">
            <a:noFill/>
            <a:prstDash val="solid"/>
          </a:ln>
        </p:spPr>
        <p:txBody>
          <a:bodyPr anchor="ctr">
            <a:normAutofit fontScale="89474" lnSpcReduction="10000"/>
          </a:bodyPr>
          <a:lstStyle/>
          <a:p>
            <a:pPr algn="l">
              <a:defRPr sz="1425" b="0">
                <a:solidFill>
                  <a:srgbClr val="526779"/>
                </a:solidFill>
                <a:latin typeface="Bitstream Charter"/>
                <a:ea typeface="Bitstream Charter"/>
                <a:cs typeface="Bitstream Charter"/>
              </a:defRPr>
            </a:pPr>
            <a:r>
              <a:rPr sz="1425" b="0">
                <a:solidFill>
                  <a:srgbClr val="526779"/>
                </a:solidFill>
                <a:latin typeface="Bitstream Charter"/>
                <a:ea typeface="Bitstream Charter"/>
                <a:cs typeface="Bitstream Charter"/>
              </a:rPr>
              <a:t>FIR arithmetic datapath</a:t>
            </a:r>
          </a:p>
        </p:txBody>
      </p:sp>
      <p:sp>
        <p:nvSpPr>
          <p:cNvPr id="20" name="owner-2-name">
            <a:extLst>
              <a:ext uri="{FF2B5EF4-FFF2-40B4-BE49-F238E27FC236}">
                <a16:creationId xmlns:a16="http://schemas.microsoft.com/office/drawing/2014/main" id="{8004F7C5-890B-4FE9-B2DE-B54FA7F1F5C0}"/>
              </a:ext>
            </a:extLst>
          </p:cNvPr>
          <p:cNvSpPr>
            <a:spLocks noGrp="1"/>
          </p:cNvSpPr>
          <p:nvPr/>
        </p:nvSpPr>
        <p:spPr>
          <a:xfrm>
            <a:off x="6477000" y="3514725"/>
            <a:ext cx="1666875" cy="285750"/>
          </a:xfrm>
          <a:prstGeom prst="rect">
            <a:avLst/>
          </a:prstGeom>
          <a:noFill/>
          <a:ln w="0">
            <a:noFill/>
            <a:prstDash val="solid"/>
          </a:ln>
        </p:spPr>
        <p:txBody>
          <a:bodyPr anchor="ctr">
            <a:normAutofit fontScale="89474" lnSpcReduction="10000"/>
          </a:bodyPr>
          <a:lstStyle/>
          <a:p>
            <a:pPr algn="l">
              <a:defRPr sz="1425" b="1">
                <a:solidFill>
                  <a:srgbClr val="132A3E"/>
                </a:solidFill>
                <a:latin typeface="Bitstream Charter"/>
                <a:ea typeface="Bitstream Charter"/>
                <a:cs typeface="Bitstream Charter"/>
              </a:defRPr>
            </a:pPr>
            <a:r>
              <a:rPr sz="1425" b="1">
                <a:solidFill>
                  <a:srgbClr val="132A3E"/>
                </a:solidFill>
                <a:latin typeface="Bitstream Charter"/>
                <a:ea typeface="Bitstream Charter"/>
                <a:cs typeface="Bitstream Charter"/>
              </a:rPr>
              <a:t>Gurpal Johal</a:t>
            </a:r>
          </a:p>
        </p:txBody>
      </p:sp>
      <p:sp>
        <p:nvSpPr>
          <p:cNvPr id="21" name="owner-2-task">
            <a:extLst>
              <a:ext uri="{FF2B5EF4-FFF2-40B4-BE49-F238E27FC236}">
                <a16:creationId xmlns:a16="http://schemas.microsoft.com/office/drawing/2014/main" id="{C75CEF65-0E35-428C-845E-F556E08924D5}"/>
              </a:ext>
            </a:extLst>
          </p:cNvPr>
          <p:cNvSpPr>
            <a:spLocks noGrp="1"/>
          </p:cNvSpPr>
          <p:nvPr/>
        </p:nvSpPr>
        <p:spPr>
          <a:xfrm>
            <a:off x="8115300" y="3514725"/>
            <a:ext cx="3286125" cy="285750"/>
          </a:xfrm>
          <a:prstGeom prst="rect">
            <a:avLst/>
          </a:prstGeom>
          <a:noFill/>
          <a:ln w="0">
            <a:noFill/>
            <a:prstDash val="solid"/>
          </a:ln>
        </p:spPr>
        <p:txBody>
          <a:bodyPr anchor="ctr">
            <a:normAutofit fontScale="89474" lnSpcReduction="10000"/>
          </a:bodyPr>
          <a:lstStyle/>
          <a:p>
            <a:pPr algn="l">
              <a:defRPr sz="1425" b="0">
                <a:solidFill>
                  <a:srgbClr val="526779"/>
                </a:solidFill>
                <a:latin typeface="Bitstream Charter"/>
                <a:ea typeface="Bitstream Charter"/>
                <a:cs typeface="Bitstream Charter"/>
              </a:defRPr>
            </a:pPr>
            <a:r>
              <a:rPr sz="1425" b="0">
                <a:solidFill>
                  <a:srgbClr val="526779"/>
                </a:solidFill>
                <a:latin typeface="Bitstream Charter"/>
                <a:ea typeface="Bitstream Charter"/>
                <a:cs typeface="Bitstream Charter"/>
              </a:rPr>
              <a:t>SPI and coefficient storage</a:t>
            </a:r>
          </a:p>
        </p:txBody>
      </p:sp>
      <p:sp>
        <p:nvSpPr>
          <p:cNvPr id="22" name="owner-3-name">
            <a:extLst>
              <a:ext uri="{FF2B5EF4-FFF2-40B4-BE49-F238E27FC236}">
                <a16:creationId xmlns:a16="http://schemas.microsoft.com/office/drawing/2014/main" id="{16B88DEC-192D-41D0-8569-AAAA6DF0C617}"/>
              </a:ext>
            </a:extLst>
          </p:cNvPr>
          <p:cNvSpPr>
            <a:spLocks noGrp="1"/>
          </p:cNvSpPr>
          <p:nvPr/>
        </p:nvSpPr>
        <p:spPr>
          <a:xfrm>
            <a:off x="6477000" y="3924300"/>
            <a:ext cx="1666875" cy="285750"/>
          </a:xfrm>
          <a:prstGeom prst="rect">
            <a:avLst/>
          </a:prstGeom>
          <a:noFill/>
          <a:ln w="0">
            <a:noFill/>
            <a:prstDash val="solid"/>
          </a:ln>
        </p:spPr>
        <p:txBody>
          <a:bodyPr anchor="ctr">
            <a:normAutofit fontScale="89474" lnSpcReduction="10000"/>
          </a:bodyPr>
          <a:lstStyle/>
          <a:p>
            <a:pPr algn="l">
              <a:defRPr sz="1425" b="1">
                <a:solidFill>
                  <a:srgbClr val="132A3E"/>
                </a:solidFill>
                <a:latin typeface="Bitstream Charter"/>
                <a:ea typeface="Bitstream Charter"/>
                <a:cs typeface="Bitstream Charter"/>
              </a:defRPr>
            </a:pPr>
            <a:r>
              <a:rPr sz="1425" b="1">
                <a:solidFill>
                  <a:srgbClr val="132A3E"/>
                </a:solidFill>
                <a:latin typeface="Bitstream Charter"/>
                <a:ea typeface="Bitstream Charter"/>
                <a:cs typeface="Bitstream Charter"/>
              </a:rPr>
              <a:t>Mohil Kadakia</a:t>
            </a:r>
          </a:p>
        </p:txBody>
      </p:sp>
      <p:sp>
        <p:nvSpPr>
          <p:cNvPr id="23" name="owner-3-task">
            <a:extLst>
              <a:ext uri="{FF2B5EF4-FFF2-40B4-BE49-F238E27FC236}">
                <a16:creationId xmlns:a16="http://schemas.microsoft.com/office/drawing/2014/main" id="{BA210531-7810-46A0-880F-60A49E6787E3}"/>
              </a:ext>
            </a:extLst>
          </p:cNvPr>
          <p:cNvSpPr>
            <a:spLocks noGrp="1"/>
          </p:cNvSpPr>
          <p:nvPr/>
        </p:nvSpPr>
        <p:spPr>
          <a:xfrm>
            <a:off x="8115300" y="3924300"/>
            <a:ext cx="3286125" cy="285750"/>
          </a:xfrm>
          <a:prstGeom prst="rect">
            <a:avLst/>
          </a:prstGeom>
          <a:noFill/>
          <a:ln w="0">
            <a:noFill/>
            <a:prstDash val="solid"/>
          </a:ln>
        </p:spPr>
        <p:txBody>
          <a:bodyPr anchor="ctr">
            <a:normAutofit fontScale="89474" lnSpcReduction="10000"/>
          </a:bodyPr>
          <a:lstStyle/>
          <a:p>
            <a:pPr algn="l">
              <a:defRPr sz="1425" b="0">
                <a:solidFill>
                  <a:srgbClr val="526779"/>
                </a:solidFill>
                <a:latin typeface="Bitstream Charter"/>
                <a:ea typeface="Bitstream Charter"/>
                <a:cs typeface="Bitstream Charter"/>
              </a:defRPr>
            </a:pPr>
            <a:r>
              <a:rPr sz="1425" b="0">
                <a:solidFill>
                  <a:srgbClr val="526779"/>
                </a:solidFill>
                <a:latin typeface="Bitstream Charter"/>
                <a:ea typeface="Bitstream Charter"/>
                <a:cs typeface="Bitstream Charter"/>
              </a:rPr>
              <a:t>Sample path, control and integration</a:t>
            </a:r>
          </a:p>
        </p:txBody>
      </p:sp>
      <p:sp>
        <p:nvSpPr>
          <p:cNvPr id="24" name="owner-4-name">
            <a:extLst>
              <a:ext uri="{FF2B5EF4-FFF2-40B4-BE49-F238E27FC236}">
                <a16:creationId xmlns:a16="http://schemas.microsoft.com/office/drawing/2014/main" id="{7CA3673B-CC02-4E9E-B47B-FF591829938F}"/>
              </a:ext>
            </a:extLst>
          </p:cNvPr>
          <p:cNvSpPr>
            <a:spLocks noGrp="1"/>
          </p:cNvSpPr>
          <p:nvPr/>
        </p:nvSpPr>
        <p:spPr>
          <a:xfrm>
            <a:off x="6477000" y="4333875"/>
            <a:ext cx="1666875" cy="285750"/>
          </a:xfrm>
          <a:prstGeom prst="rect">
            <a:avLst/>
          </a:prstGeom>
          <a:noFill/>
          <a:ln w="0">
            <a:noFill/>
            <a:prstDash val="solid"/>
          </a:ln>
        </p:spPr>
        <p:txBody>
          <a:bodyPr anchor="ctr">
            <a:normAutofit fontScale="89474" lnSpcReduction="10000"/>
          </a:bodyPr>
          <a:lstStyle/>
          <a:p>
            <a:pPr algn="l">
              <a:defRPr sz="1425" b="1">
                <a:solidFill>
                  <a:srgbClr val="132A3E"/>
                </a:solidFill>
                <a:latin typeface="Bitstream Charter"/>
                <a:ea typeface="Bitstream Charter"/>
                <a:cs typeface="Bitstream Charter"/>
              </a:defRPr>
            </a:pPr>
            <a:r>
              <a:rPr sz="1425" b="1">
                <a:solidFill>
                  <a:srgbClr val="132A3E"/>
                </a:solidFill>
                <a:latin typeface="Bitstream Charter"/>
                <a:ea typeface="Bitstream Charter"/>
                <a:cs typeface="Bitstream Charter"/>
              </a:rPr>
              <a:t>Hamza Soofi</a:t>
            </a:r>
          </a:p>
        </p:txBody>
      </p:sp>
      <p:sp>
        <p:nvSpPr>
          <p:cNvPr id="25" name="owner-4-task">
            <a:extLst>
              <a:ext uri="{FF2B5EF4-FFF2-40B4-BE49-F238E27FC236}">
                <a16:creationId xmlns:a16="http://schemas.microsoft.com/office/drawing/2014/main" id="{08B01922-C70E-4C78-820E-7DE054FE2EA9}"/>
              </a:ext>
            </a:extLst>
          </p:cNvPr>
          <p:cNvSpPr>
            <a:spLocks noGrp="1"/>
          </p:cNvSpPr>
          <p:nvPr/>
        </p:nvSpPr>
        <p:spPr>
          <a:xfrm>
            <a:off x="8115300" y="4333875"/>
            <a:ext cx="3286125" cy="285750"/>
          </a:xfrm>
          <a:prstGeom prst="rect">
            <a:avLst/>
          </a:prstGeom>
          <a:noFill/>
          <a:ln w="0">
            <a:noFill/>
            <a:prstDash val="solid"/>
          </a:ln>
        </p:spPr>
        <p:txBody>
          <a:bodyPr anchor="ctr">
            <a:normAutofit fontScale="89474" lnSpcReduction="10000"/>
          </a:bodyPr>
          <a:lstStyle/>
          <a:p>
            <a:pPr algn="l">
              <a:defRPr sz="1425" b="0">
                <a:solidFill>
                  <a:srgbClr val="526779"/>
                </a:solidFill>
                <a:latin typeface="Bitstream Charter"/>
                <a:ea typeface="Bitstream Charter"/>
                <a:cs typeface="Bitstream Charter"/>
              </a:defRPr>
            </a:pPr>
            <a:r>
              <a:rPr sz="1425" b="0">
                <a:solidFill>
                  <a:srgbClr val="526779"/>
                </a:solidFill>
                <a:latin typeface="Bitstream Charter"/>
                <a:ea typeface="Bitstream Charter"/>
                <a:cs typeface="Bitstream Charter"/>
              </a:rPr>
              <a:t>Python model and verification</a:t>
            </a:r>
          </a:p>
        </p:txBody>
      </p:sp>
      <p:sp>
        <p:nvSpPr>
          <p:cNvPr id="26" name="spec-divider">
            <a:extLst>
              <a:ext uri="{FF2B5EF4-FFF2-40B4-BE49-F238E27FC236}">
                <a16:creationId xmlns:a16="http://schemas.microsoft.com/office/drawing/2014/main" id="{A6C14523-9FBA-48AA-8281-F33FF37F255D}"/>
              </a:ext>
            </a:extLst>
          </p:cNvPr>
          <p:cNvSpPr>
            <a:spLocks noGrp="1"/>
          </p:cNvSpPr>
          <p:nvPr/>
        </p:nvSpPr>
        <p:spPr>
          <a:xfrm>
            <a:off x="590550" y="5019675"/>
            <a:ext cx="10896600" cy="0"/>
          </a:xfrm>
          <a:prstGeom prst="line">
            <a:avLst/>
          </a:prstGeom>
          <a:noFill/>
          <a:ln w="19050">
            <a:solidFill>
              <a:srgbClr val="CCD7DB"/>
            </a:solidFill>
            <a:prstDash val="solid"/>
          </a:ln>
        </p:spPr>
        <p:txBody>
          <a:bodyPr/>
          <a:lstStyle/>
          <a:p>
            <a:endParaRPr lang="en-CA"/>
          </a:p>
        </p:txBody>
      </p:sp>
      <p:sp>
        <p:nvSpPr>
          <p:cNvPr id="27" name="arithmetic-spec">
            <a:extLst>
              <a:ext uri="{FF2B5EF4-FFF2-40B4-BE49-F238E27FC236}">
                <a16:creationId xmlns:a16="http://schemas.microsoft.com/office/drawing/2014/main" id="{B3CEFEB6-60B0-4ED8-A3E6-24BDDB7A2313}"/>
              </a:ext>
            </a:extLst>
          </p:cNvPr>
          <p:cNvSpPr>
            <a:spLocks noGrp="1"/>
          </p:cNvSpPr>
          <p:nvPr/>
        </p:nvSpPr>
        <p:spPr>
          <a:xfrm>
            <a:off x="609600" y="5191125"/>
            <a:ext cx="10668000" cy="304800"/>
          </a:xfrm>
          <a:prstGeom prst="rect">
            <a:avLst/>
          </a:prstGeom>
          <a:noFill/>
          <a:ln w="0">
            <a:noFill/>
            <a:prstDash val="solid"/>
          </a:ln>
        </p:spPr>
        <p:txBody>
          <a:bodyPr anchor="ctr">
            <a:normAutofit fontScale="98246"/>
          </a:bodyPr>
          <a:lstStyle/>
          <a:p>
            <a:pPr algn="l">
              <a:defRPr sz="1425" b="1">
                <a:solidFill>
                  <a:srgbClr val="132A3E"/>
                </a:solidFill>
                <a:latin typeface="Bitstream Charter"/>
                <a:ea typeface="Bitstream Charter"/>
                <a:cs typeface="Bitstream Charter"/>
              </a:defRPr>
            </a:pPr>
            <a:r>
              <a:rPr sz="1425" b="1">
                <a:solidFill>
                  <a:srgbClr val="132A3E"/>
                </a:solidFill>
                <a:latin typeface="Bitstream Charter"/>
                <a:ea typeface="Bitstream Charter"/>
                <a:cs typeface="Bitstream Charter"/>
              </a:rPr>
              <a:t>Signed 8-bit samples   /   </a:t>
            </a:r>
            <a:r>
              <a:rPr lang="en-CA" sz="1425" b="1">
                <a:solidFill>
                  <a:srgbClr val="132A3E"/>
                </a:solidFill>
                <a:latin typeface="Bitstream Charter"/>
                <a:ea typeface="Bitstream Charter"/>
                <a:cs typeface="Bitstream Charter"/>
              </a:rPr>
              <a:t>Signed</a:t>
            </a:r>
            <a:r>
              <a:rPr sz="1425" b="1">
                <a:solidFill>
                  <a:srgbClr val="132A3E"/>
                </a:solidFill>
                <a:latin typeface="Bitstream Charter"/>
                <a:ea typeface="Bitstream Charter"/>
                <a:cs typeface="Bitstream Charter"/>
              </a:rPr>
              <a:t>9-bit coefficients   /   20-bit </a:t>
            </a:r>
            <a:r>
              <a:rPr lang="en-CA" sz="1425" b="1">
                <a:solidFill>
                  <a:srgbClr val="132A3E"/>
                </a:solidFill>
                <a:latin typeface="Bitstream Charter"/>
                <a:ea typeface="Bitstream Charter"/>
                <a:cs typeface="Bitstream Charter"/>
              </a:rPr>
              <a:t>Accumulator</a:t>
            </a:r>
            <a:endParaRPr sz="1425" b="1">
              <a:solidFill>
                <a:srgbClr val="132A3E"/>
              </a:solidFill>
              <a:latin typeface="Bitstream Charter"/>
              <a:ea typeface="Bitstream Charter"/>
              <a:cs typeface="Bitstream Charter"/>
            </a:endParaRPr>
          </a:p>
        </p:txBody>
      </p:sp>
      <p:sp>
        <p:nvSpPr>
          <p:cNvPr id="28" name="platform-caveat">
            <a:extLst>
              <a:ext uri="{FF2B5EF4-FFF2-40B4-BE49-F238E27FC236}">
                <a16:creationId xmlns:a16="http://schemas.microsoft.com/office/drawing/2014/main" id="{F509BE74-D9D3-477A-9770-89737F2A4D09}"/>
              </a:ext>
            </a:extLst>
          </p:cNvPr>
          <p:cNvSpPr>
            <a:spLocks noGrp="1"/>
          </p:cNvSpPr>
          <p:nvPr/>
        </p:nvSpPr>
        <p:spPr>
          <a:xfrm>
            <a:off x="590550" y="5667374"/>
            <a:ext cx="10668000" cy="304800"/>
          </a:xfrm>
          <a:prstGeom prst="rect">
            <a:avLst/>
          </a:prstGeom>
          <a:noFill/>
          <a:ln w="0">
            <a:noFill/>
            <a:prstDash val="solid"/>
          </a:ln>
        </p:spPr>
        <p:txBody>
          <a:bodyPr anchor="ctr">
            <a:normAutofit/>
          </a:bodyPr>
          <a:lstStyle/>
          <a:p>
            <a:pPr algn="l">
              <a:defRPr sz="1350" b="0">
                <a:solidFill>
                  <a:srgbClr val="526779"/>
                </a:solidFill>
                <a:latin typeface="Bitstream Charter"/>
                <a:ea typeface="Bitstream Charter"/>
                <a:cs typeface="Bitstream Charter"/>
              </a:defRPr>
            </a:pPr>
            <a:r>
              <a:rPr sz="1350" b="0">
                <a:solidFill>
                  <a:srgbClr val="526779"/>
                </a:solidFill>
                <a:latin typeface="Bitstream Charter"/>
                <a:ea typeface="Bitstream Charter"/>
                <a:cs typeface="Bitstream Charter"/>
              </a:rPr>
              <a:t>GF180, 1 × 2 Tiny </a:t>
            </a:r>
            <a:r>
              <a:rPr sz="1350" b="0" err="1">
                <a:solidFill>
                  <a:srgbClr val="526779"/>
                </a:solidFill>
                <a:latin typeface="Bitstream Charter"/>
                <a:ea typeface="Bitstream Charter"/>
                <a:cs typeface="Bitstream Charter"/>
              </a:rPr>
              <a:t>Tapeout</a:t>
            </a:r>
            <a:r>
              <a:rPr sz="1350" b="0">
                <a:solidFill>
                  <a:srgbClr val="526779"/>
                </a:solidFill>
                <a:latin typeface="Bitstream Charter"/>
                <a:ea typeface="Bitstream Charter"/>
                <a:cs typeface="Bitstream Charter"/>
              </a:rPr>
              <a:t> block. Area and timing must pass the course implementation checks.</a:t>
            </a:r>
          </a:p>
        </p:txBody>
      </p:sp>
      <p:sp>
        <p:nvSpPr>
          <p:cNvPr id="29" name="filter-caveat">
            <a:extLst>
              <a:ext uri="{FF2B5EF4-FFF2-40B4-BE49-F238E27FC236}">
                <a16:creationId xmlns:a16="http://schemas.microsoft.com/office/drawing/2014/main" id="{79E745C0-B359-4580-8F09-ECF76143A7AD}"/>
              </a:ext>
            </a:extLst>
          </p:cNvPr>
          <p:cNvSpPr>
            <a:spLocks noGrp="1"/>
          </p:cNvSpPr>
          <p:nvPr/>
        </p:nvSpPr>
        <p:spPr>
          <a:xfrm>
            <a:off x="590550" y="6143624"/>
            <a:ext cx="10668000" cy="285750"/>
          </a:xfrm>
          <a:prstGeom prst="rect">
            <a:avLst/>
          </a:prstGeom>
          <a:noFill/>
          <a:ln w="0">
            <a:noFill/>
            <a:prstDash val="solid"/>
          </a:ln>
        </p:spPr>
        <p:txBody>
          <a:bodyPr anchor="ctr">
            <a:normAutofit/>
          </a:bodyPr>
          <a:lstStyle/>
          <a:p>
            <a:pPr algn="l">
              <a:defRPr sz="1275" b="0">
                <a:solidFill>
                  <a:srgbClr val="526779"/>
                </a:solidFill>
                <a:latin typeface="Bitstream Charter"/>
                <a:ea typeface="Bitstream Charter"/>
                <a:cs typeface="Bitstream Charter"/>
              </a:defRPr>
            </a:pPr>
            <a:r>
              <a:rPr sz="1275" b="0">
                <a:solidFill>
                  <a:srgbClr val="526779"/>
                </a:solidFill>
                <a:latin typeface="Bitstream Charter"/>
                <a:ea typeface="Bitstream Charter"/>
                <a:cs typeface="Bitstream Charter"/>
              </a:rPr>
              <a:t>Eight taps support broad filter demonstrations; sharp frequency transitions are not promised.</a:t>
            </a:r>
          </a:p>
        </p:txBody>
      </p:sp>
    </p:spTree>
    <p:extLst>
      <p:ext uri="{BB962C8B-B14F-4D97-AF65-F5344CB8AC3E}">
        <p14:creationId xmlns:p14="http://schemas.microsoft.com/office/powerpoint/2010/main" val="178320966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870</Words>
  <Application>Microsoft Office PowerPoint</Application>
  <PresentationFormat>Widescreen</PresentationFormat>
  <Paragraphs>71</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Aptos</vt:lpstr>
      <vt:lpstr>Bitstream Charter</vt:lpstr>
      <vt:lpstr>ChatGPT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Hamza Soofi</cp:lastModifiedBy>
  <cp:revision>1</cp:revision>
  <dcterms:created xsi:type="dcterms:W3CDTF">2026-10-01T14:48:39Z</dcterms:created>
  <dcterms:modified xsi:type="dcterms:W3CDTF">2026-10-01T21:59:13Z</dcterms:modified>
</cp:coreProperties>
</file>